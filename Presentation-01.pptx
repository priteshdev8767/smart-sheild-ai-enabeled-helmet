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8" r:id="rId3"/>
    <p:sldId id="259" r:id="rId4"/>
    <p:sldId id="260" r:id="rId5"/>
    <p:sldId id="261" r:id="rId6"/>
    <p:sldId id="262" r:id="rId7"/>
    <p:sldId id="263" r:id="rId8"/>
    <p:sldId id="264" r:id="rId9"/>
    <p:sldId id="265" r:id="rId10"/>
    <p:sldId id="266" r:id="rId11"/>
    <p:sldId id="267" r:id="rId12"/>
    <p:sldId id="269" r:id="rId13"/>
    <p:sldId id="270" r:id="rId14"/>
    <p:sldId id="271" r:id="rId15"/>
    <p:sldId id="272" r:id="rId16"/>
  </p:sldIdLst>
  <p:sldSz cx="10972800" cy="6400800"/>
  <p:notesSz cx="10972800" cy="64008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A8A5D7-DEA9-4BB3-B6C3-43E6AB8FF770}" v="1" dt="2026-09-10T05:45:54.73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974"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dant Patil" userId="10cfb22d1c2830aa" providerId="LiveId" clId="{5B8C4DFA-C5A0-4E33-8BFF-77E0BBDD1F00}"/>
    <pc:docChg chg="undo custSel addSld delSld modSld">
      <pc:chgData name="Vedant Patil" userId="10cfb22d1c2830aa" providerId="LiveId" clId="{5B8C4DFA-C5A0-4E33-8BFF-77E0BBDD1F00}" dt="2026-09-10T05:47:52.879" v="105" actId="123"/>
      <pc:docMkLst>
        <pc:docMk/>
      </pc:docMkLst>
      <pc:sldChg chg="modSp del mod">
        <pc:chgData name="Vedant Patil" userId="10cfb22d1c2830aa" providerId="LiveId" clId="{5B8C4DFA-C5A0-4E33-8BFF-77E0BBDD1F00}" dt="2026-09-10T05:45:29.420" v="84" actId="47"/>
        <pc:sldMkLst>
          <pc:docMk/>
          <pc:sldMk cId="0" sldId="257"/>
        </pc:sldMkLst>
        <pc:spChg chg="mod">
          <ac:chgData name="Vedant Patil" userId="10cfb22d1c2830aa" providerId="LiveId" clId="{5B8C4DFA-C5A0-4E33-8BFF-77E0BBDD1F00}" dt="2026-09-10T05:37:59.418" v="24" actId="20577"/>
          <ac:spMkLst>
            <pc:docMk/>
            <pc:sldMk cId="0" sldId="257"/>
            <ac:spMk id="4" creationId="{00000000-0000-0000-0000-000000000000}"/>
          </ac:spMkLst>
        </pc:spChg>
      </pc:sldChg>
      <pc:sldChg chg="modSp mod">
        <pc:chgData name="Vedant Patil" userId="10cfb22d1c2830aa" providerId="LiveId" clId="{5B8C4DFA-C5A0-4E33-8BFF-77E0BBDD1F00}" dt="2026-09-10T05:39:48.572" v="40" actId="123"/>
        <pc:sldMkLst>
          <pc:docMk/>
          <pc:sldMk cId="0" sldId="259"/>
        </pc:sldMkLst>
        <pc:spChg chg="mod">
          <ac:chgData name="Vedant Patil" userId="10cfb22d1c2830aa" providerId="LiveId" clId="{5B8C4DFA-C5A0-4E33-8BFF-77E0BBDD1F00}" dt="2026-09-10T05:39:48.572" v="40" actId="123"/>
          <ac:spMkLst>
            <pc:docMk/>
            <pc:sldMk cId="0" sldId="259"/>
            <ac:spMk id="3" creationId="{00000000-0000-0000-0000-000000000000}"/>
          </ac:spMkLst>
        </pc:spChg>
      </pc:sldChg>
      <pc:sldChg chg="modSp mod">
        <pc:chgData name="Vedant Patil" userId="10cfb22d1c2830aa" providerId="LiveId" clId="{5B8C4DFA-C5A0-4E33-8BFF-77E0BBDD1F00}" dt="2026-09-10T05:45:54.734" v="85"/>
        <pc:sldMkLst>
          <pc:docMk/>
          <pc:sldMk cId="0" sldId="260"/>
        </pc:sldMkLst>
        <pc:graphicFrameChg chg="mod modGraphic">
          <ac:chgData name="Vedant Patil" userId="10cfb22d1c2830aa" providerId="LiveId" clId="{5B8C4DFA-C5A0-4E33-8BFF-77E0BBDD1F00}" dt="2026-09-10T05:45:54.734" v="85"/>
          <ac:graphicFrameMkLst>
            <pc:docMk/>
            <pc:sldMk cId="0" sldId="260"/>
            <ac:graphicFrameMk id="6" creationId="{A0D6EE61-95B1-6A6C-504E-728725F2B4A9}"/>
          </ac:graphicFrameMkLst>
        </pc:graphicFrameChg>
      </pc:sldChg>
      <pc:sldChg chg="modSp mod">
        <pc:chgData name="Vedant Patil" userId="10cfb22d1c2830aa" providerId="LiveId" clId="{5B8C4DFA-C5A0-4E33-8BFF-77E0BBDD1F00}" dt="2026-09-10T05:47:52.879" v="105" actId="123"/>
        <pc:sldMkLst>
          <pc:docMk/>
          <pc:sldMk cId="0" sldId="262"/>
        </pc:sldMkLst>
        <pc:spChg chg="mod">
          <ac:chgData name="Vedant Patil" userId="10cfb22d1c2830aa" providerId="LiveId" clId="{5B8C4DFA-C5A0-4E33-8BFF-77E0BBDD1F00}" dt="2026-09-10T05:47:52.879" v="105" actId="123"/>
          <ac:spMkLst>
            <pc:docMk/>
            <pc:sldMk cId="0" sldId="262"/>
            <ac:spMk id="4" creationId="{00000000-0000-0000-0000-000000000000}"/>
          </ac:spMkLst>
        </pc:spChg>
      </pc:sldChg>
      <pc:sldChg chg="del">
        <pc:chgData name="Vedant Patil" userId="10cfb22d1c2830aa" providerId="LiveId" clId="{5B8C4DFA-C5A0-4E33-8BFF-77E0BBDD1F00}" dt="2026-09-10T05:36:59.259" v="0" actId="47"/>
        <pc:sldMkLst>
          <pc:docMk/>
          <pc:sldMk cId="0" sldId="268"/>
        </pc:sldMkLst>
      </pc:sldChg>
      <pc:sldChg chg="addSp modSp add del mod">
        <pc:chgData name="Vedant Patil" userId="10cfb22d1c2830aa" providerId="LiveId" clId="{5B8C4DFA-C5A0-4E33-8BFF-77E0BBDD1F00}" dt="2026-09-10T05:40:59.154" v="45" actId="1076"/>
        <pc:sldMkLst>
          <pc:docMk/>
          <pc:sldMk cId="0" sldId="270"/>
        </pc:sldMkLst>
        <pc:picChg chg="add mod">
          <ac:chgData name="Vedant Patil" userId="10cfb22d1c2830aa" providerId="LiveId" clId="{5B8C4DFA-C5A0-4E33-8BFF-77E0BBDD1F00}" dt="2026-09-10T05:40:59.154" v="45" actId="1076"/>
          <ac:picMkLst>
            <pc:docMk/>
            <pc:sldMk cId="0" sldId="270"/>
            <ac:picMk id="9" creationId="{AE634DED-42AE-17C7-E1F7-BFC0E9AE8CF8}"/>
          </ac:picMkLst>
        </pc:picChg>
      </pc:sldChg>
      <pc:sldChg chg="modSp mod">
        <pc:chgData name="Vedant Patil" userId="10cfb22d1c2830aa" providerId="LiveId" clId="{5B8C4DFA-C5A0-4E33-8BFF-77E0BBDD1F00}" dt="2026-09-10T05:41:34.081" v="67" actId="20577"/>
        <pc:sldMkLst>
          <pc:docMk/>
          <pc:sldMk cId="0" sldId="272"/>
        </pc:sldMkLst>
        <pc:spChg chg="mod">
          <ac:chgData name="Vedant Patil" userId="10cfb22d1c2830aa" providerId="LiveId" clId="{5B8C4DFA-C5A0-4E33-8BFF-77E0BBDD1F00}" dt="2026-09-10T05:41:34.081" v="67" actId="20577"/>
          <ac:spMkLst>
            <pc:docMk/>
            <pc:sldMk cId="0" sldId="272"/>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754563" cy="3206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215063" y="0"/>
            <a:ext cx="4754562" cy="320675"/>
          </a:xfrm>
          <a:prstGeom prst="rect">
            <a:avLst/>
          </a:prstGeom>
        </p:spPr>
        <p:txBody>
          <a:bodyPr vert="horz" lIns="91440" tIns="45720" rIns="91440" bIns="45720" rtlCol="0"/>
          <a:lstStyle>
            <a:lvl1pPr algn="r">
              <a:defRPr sz="1200"/>
            </a:lvl1pPr>
          </a:lstStyle>
          <a:p>
            <a:fld id="{E7C292D8-E7C0-48B9-84A1-25DCA3ADCEC4}" type="datetimeFigureOut">
              <a:rPr lang="en-IN" smtClean="0"/>
              <a:t>10-09-2026</a:t>
            </a:fld>
            <a:endParaRPr lang="en-IN"/>
          </a:p>
        </p:txBody>
      </p:sp>
      <p:sp>
        <p:nvSpPr>
          <p:cNvPr id="4" name="Slide Image Placeholder 3"/>
          <p:cNvSpPr>
            <a:spLocks noGrp="1" noRot="1" noChangeAspect="1"/>
          </p:cNvSpPr>
          <p:nvPr>
            <p:ph type="sldImg" idx="2"/>
          </p:nvPr>
        </p:nvSpPr>
        <p:spPr>
          <a:xfrm>
            <a:off x="3633788" y="800100"/>
            <a:ext cx="3705225" cy="2160588"/>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96963" y="3079750"/>
            <a:ext cx="8778875" cy="25209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080125"/>
            <a:ext cx="4754563" cy="3206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215063" y="6080125"/>
            <a:ext cx="4754562" cy="320675"/>
          </a:xfrm>
          <a:prstGeom prst="rect">
            <a:avLst/>
          </a:prstGeom>
        </p:spPr>
        <p:txBody>
          <a:bodyPr vert="horz" lIns="91440" tIns="45720" rIns="91440" bIns="45720" rtlCol="0" anchor="b"/>
          <a:lstStyle>
            <a:lvl1pPr algn="r">
              <a:defRPr sz="1200"/>
            </a:lvl1pPr>
          </a:lstStyle>
          <a:p>
            <a:fld id="{9E55BFE4-7FA9-49C2-86E3-3064BC8A7360}" type="slidenum">
              <a:rPr lang="en-IN" smtClean="0"/>
              <a:t>‹#›</a:t>
            </a:fld>
            <a:endParaRPr lang="en-IN"/>
          </a:p>
        </p:txBody>
      </p:sp>
    </p:spTree>
    <p:extLst>
      <p:ext uri="{BB962C8B-B14F-4D97-AF65-F5344CB8AC3E}">
        <p14:creationId xmlns:p14="http://schemas.microsoft.com/office/powerpoint/2010/main" val="1485098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E55BFE4-7FA9-49C2-86E3-3064BC8A7360}" type="slidenum">
              <a:rPr lang="en-IN" smtClean="0"/>
              <a:t>11</a:t>
            </a:fld>
            <a:endParaRPr lang="en-IN"/>
          </a:p>
        </p:txBody>
      </p:sp>
    </p:spTree>
    <p:extLst>
      <p:ext uri="{BB962C8B-B14F-4D97-AF65-F5344CB8AC3E}">
        <p14:creationId xmlns:p14="http://schemas.microsoft.com/office/powerpoint/2010/main" val="3682867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22960" y="1984248"/>
            <a:ext cx="9326880" cy="1344168"/>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645920" y="3584448"/>
            <a:ext cx="7680960" cy="1600200"/>
          </a:xfrm>
          <a:prstGeom prst="rect">
            <a:avLst/>
          </a:prstGeom>
        </p:spPr>
        <p:txBody>
          <a:bodyPr wrap="square" lIns="0" tIns="0" rIns="0" bIns="0">
            <a:spAutoFit/>
          </a:bodyPr>
          <a:lstStyle>
            <a:lvl1pPr>
              <a:defRPr sz="1800" b="0" i="0">
                <a:solidFill>
                  <a:srgbClr val="3E3E3E"/>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400" b="1" i="0">
                <a:solidFill>
                  <a:schemeClr val="tx1"/>
                </a:solidFill>
                <a:latin typeface="Times New Roman"/>
                <a:cs typeface="Times New Roman"/>
              </a:defRPr>
            </a:lvl1pPr>
          </a:lstStyle>
          <a:p>
            <a:pPr marL="12700">
              <a:lnSpc>
                <a:spcPts val="1630"/>
              </a:lnSpc>
            </a:pPr>
            <a:r>
              <a:rPr dirty="0"/>
              <a:t>FinGuard</a:t>
            </a:r>
            <a:r>
              <a:rPr spc="-45" dirty="0"/>
              <a:t> </a:t>
            </a:r>
            <a:r>
              <a:rPr dirty="0"/>
              <a:t>–</a:t>
            </a:r>
            <a:r>
              <a:rPr spc="-5" dirty="0"/>
              <a:t> </a:t>
            </a:r>
            <a:r>
              <a:rPr dirty="0"/>
              <a:t>AI Agent</a:t>
            </a:r>
            <a:r>
              <a:rPr spc="-20" dirty="0"/>
              <a:t> </a:t>
            </a:r>
            <a:r>
              <a:rPr dirty="0"/>
              <a:t>for</a:t>
            </a:r>
            <a:r>
              <a:rPr spc="-20" dirty="0"/>
              <a:t> </a:t>
            </a:r>
            <a:r>
              <a:rPr dirty="0"/>
              <a:t>Hidden</a:t>
            </a:r>
            <a:r>
              <a:rPr spc="-35" dirty="0"/>
              <a:t> </a:t>
            </a:r>
            <a:r>
              <a:rPr dirty="0"/>
              <a:t>Subscription</a:t>
            </a:r>
            <a:r>
              <a:rPr spc="-15" dirty="0"/>
              <a:t> </a:t>
            </a:r>
            <a:r>
              <a:rPr dirty="0"/>
              <a:t>and</a:t>
            </a:r>
            <a:r>
              <a:rPr spc="-55" dirty="0"/>
              <a:t> </a:t>
            </a:r>
            <a:r>
              <a:rPr spc="-10" dirty="0"/>
              <a:t>Cash-</a:t>
            </a:r>
            <a:r>
              <a:rPr dirty="0"/>
              <a:t>Flow</a:t>
            </a:r>
            <a:r>
              <a:rPr spc="-40" dirty="0"/>
              <a:t> </a:t>
            </a:r>
            <a:r>
              <a:rPr spc="-10" dirty="0"/>
              <a:t>Alerts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800" b="0" i="0">
                <a:solidFill>
                  <a:srgbClr val="3E3E3E"/>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400" b="1" i="0">
                <a:solidFill>
                  <a:schemeClr val="tx1"/>
                </a:solidFill>
                <a:latin typeface="Times New Roman"/>
                <a:cs typeface="Times New Roman"/>
              </a:defRPr>
            </a:lvl1pPr>
          </a:lstStyle>
          <a:p>
            <a:pPr marL="12700">
              <a:lnSpc>
                <a:spcPts val="1630"/>
              </a:lnSpc>
            </a:pPr>
            <a:r>
              <a:rPr dirty="0"/>
              <a:t>FinGuard</a:t>
            </a:r>
            <a:r>
              <a:rPr spc="-45" dirty="0"/>
              <a:t> </a:t>
            </a:r>
            <a:r>
              <a:rPr dirty="0"/>
              <a:t>–</a:t>
            </a:r>
            <a:r>
              <a:rPr spc="-5" dirty="0"/>
              <a:t> </a:t>
            </a:r>
            <a:r>
              <a:rPr dirty="0"/>
              <a:t>AI Agent</a:t>
            </a:r>
            <a:r>
              <a:rPr spc="-20" dirty="0"/>
              <a:t> </a:t>
            </a:r>
            <a:r>
              <a:rPr dirty="0"/>
              <a:t>for</a:t>
            </a:r>
            <a:r>
              <a:rPr spc="-20" dirty="0"/>
              <a:t> </a:t>
            </a:r>
            <a:r>
              <a:rPr dirty="0"/>
              <a:t>Hidden</a:t>
            </a:r>
            <a:r>
              <a:rPr spc="-35" dirty="0"/>
              <a:t> </a:t>
            </a:r>
            <a:r>
              <a:rPr dirty="0"/>
              <a:t>Subscription</a:t>
            </a:r>
            <a:r>
              <a:rPr spc="-15" dirty="0"/>
              <a:t> </a:t>
            </a:r>
            <a:r>
              <a:rPr dirty="0"/>
              <a:t>and</a:t>
            </a:r>
            <a:r>
              <a:rPr spc="-55" dirty="0"/>
              <a:t> </a:t>
            </a:r>
            <a:r>
              <a:rPr spc="-10" dirty="0"/>
              <a:t>Cash-</a:t>
            </a:r>
            <a:r>
              <a:rPr dirty="0"/>
              <a:t>Flow</a:t>
            </a:r>
            <a:r>
              <a:rPr spc="-40" dirty="0"/>
              <a:t> </a:t>
            </a:r>
            <a:r>
              <a:rPr spc="-10" dirty="0"/>
              <a:t>Alerts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858" y="5974079"/>
            <a:ext cx="10970260" cy="426720"/>
          </a:xfrm>
          <a:custGeom>
            <a:avLst/>
            <a:gdLst/>
            <a:ahLst/>
            <a:cxnLst/>
            <a:rect l="l" t="t" r="r" b="b"/>
            <a:pathLst>
              <a:path w="10970260" h="426720">
                <a:moveTo>
                  <a:pt x="10969879" y="0"/>
                </a:moveTo>
                <a:lnTo>
                  <a:pt x="0" y="0"/>
                </a:lnTo>
                <a:lnTo>
                  <a:pt x="0" y="426719"/>
                </a:lnTo>
                <a:lnTo>
                  <a:pt x="10969879" y="426719"/>
                </a:lnTo>
                <a:lnTo>
                  <a:pt x="10969879" y="0"/>
                </a:lnTo>
                <a:close/>
              </a:path>
            </a:pathLst>
          </a:custGeom>
          <a:solidFill>
            <a:srgbClr val="BC572C"/>
          </a:solidFill>
        </p:spPr>
        <p:txBody>
          <a:bodyPr wrap="square" lIns="0" tIns="0" rIns="0" bIns="0" rtlCol="0"/>
          <a:lstStyle/>
          <a:p>
            <a:endParaRPr/>
          </a:p>
        </p:txBody>
      </p:sp>
      <p:sp>
        <p:nvSpPr>
          <p:cNvPr id="17" name="bg object 17"/>
          <p:cNvSpPr/>
          <p:nvPr/>
        </p:nvSpPr>
        <p:spPr>
          <a:xfrm>
            <a:off x="14" y="5912027"/>
            <a:ext cx="10970260" cy="60325"/>
          </a:xfrm>
          <a:custGeom>
            <a:avLst/>
            <a:gdLst/>
            <a:ahLst/>
            <a:cxnLst/>
            <a:rect l="l" t="t" r="r" b="b"/>
            <a:pathLst>
              <a:path w="10970260" h="60325">
                <a:moveTo>
                  <a:pt x="10969879" y="0"/>
                </a:moveTo>
                <a:lnTo>
                  <a:pt x="0" y="0"/>
                </a:lnTo>
                <a:lnTo>
                  <a:pt x="0" y="59740"/>
                </a:lnTo>
                <a:lnTo>
                  <a:pt x="10969879" y="59740"/>
                </a:lnTo>
                <a:lnTo>
                  <a:pt x="10969879" y="0"/>
                </a:lnTo>
                <a:close/>
              </a:path>
            </a:pathLst>
          </a:custGeom>
          <a:solidFill>
            <a:srgbClr val="E38312"/>
          </a:solidFill>
        </p:spPr>
        <p:txBody>
          <a:bodyPr wrap="square" lIns="0" tIns="0" rIns="0" bIns="0" rtlCol="0"/>
          <a:lstStyle/>
          <a:p>
            <a:endParaRPr/>
          </a:p>
        </p:txBody>
      </p:sp>
      <p:pic>
        <p:nvPicPr>
          <p:cNvPr id="18" name="bg object 18"/>
          <p:cNvPicPr/>
          <p:nvPr/>
        </p:nvPicPr>
        <p:blipFill>
          <a:blip r:embed="rId2" cstate="print"/>
          <a:stretch>
            <a:fillRect/>
          </a:stretch>
        </p:blipFill>
        <p:spPr>
          <a:xfrm>
            <a:off x="35011" y="76200"/>
            <a:ext cx="803186" cy="762000"/>
          </a:xfrm>
          <a:prstGeom prst="rect">
            <a:avLst/>
          </a:prstGeom>
        </p:spPr>
      </p:pic>
      <p:pic>
        <p:nvPicPr>
          <p:cNvPr id="19" name="bg object 19"/>
          <p:cNvPicPr/>
          <p:nvPr/>
        </p:nvPicPr>
        <p:blipFill>
          <a:blip r:embed="rId3" cstate="print"/>
          <a:stretch>
            <a:fillRect/>
          </a:stretch>
        </p:blipFill>
        <p:spPr>
          <a:xfrm>
            <a:off x="9516913" y="62301"/>
            <a:ext cx="1205459" cy="1070489"/>
          </a:xfrm>
          <a:prstGeom prst="rect">
            <a:avLst/>
          </a:prstGeom>
        </p:spPr>
      </p:pic>
      <p:pic>
        <p:nvPicPr>
          <p:cNvPr id="20" name="bg object 20"/>
          <p:cNvPicPr/>
          <p:nvPr/>
        </p:nvPicPr>
        <p:blipFill>
          <a:blip r:embed="rId4" cstate="print"/>
          <a:stretch>
            <a:fillRect/>
          </a:stretch>
        </p:blipFill>
        <p:spPr>
          <a:xfrm>
            <a:off x="959177" y="8699"/>
            <a:ext cx="733428" cy="896937"/>
          </a:xfrm>
          <a:prstGeom prst="rect">
            <a:avLst/>
          </a:prstGeom>
        </p:spPr>
      </p:pic>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548640" y="1472184"/>
            <a:ext cx="4773168" cy="422452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650992" y="1472184"/>
            <a:ext cx="4773168" cy="422452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1" i="0">
                <a:solidFill>
                  <a:schemeClr val="tx1"/>
                </a:solidFill>
                <a:latin typeface="Times New Roman"/>
                <a:cs typeface="Times New Roman"/>
              </a:defRPr>
            </a:lvl1pPr>
          </a:lstStyle>
          <a:p>
            <a:pPr marL="12700">
              <a:lnSpc>
                <a:spcPts val="1630"/>
              </a:lnSpc>
            </a:pPr>
            <a:r>
              <a:rPr dirty="0"/>
              <a:t>FinGuard</a:t>
            </a:r>
            <a:r>
              <a:rPr spc="-45" dirty="0"/>
              <a:t> </a:t>
            </a:r>
            <a:r>
              <a:rPr dirty="0"/>
              <a:t>–</a:t>
            </a:r>
            <a:r>
              <a:rPr spc="-5" dirty="0"/>
              <a:t> </a:t>
            </a:r>
            <a:r>
              <a:rPr dirty="0"/>
              <a:t>AI Agent</a:t>
            </a:r>
            <a:r>
              <a:rPr spc="-20" dirty="0"/>
              <a:t> </a:t>
            </a:r>
            <a:r>
              <a:rPr dirty="0"/>
              <a:t>for</a:t>
            </a:r>
            <a:r>
              <a:rPr spc="-20" dirty="0"/>
              <a:t> </a:t>
            </a:r>
            <a:r>
              <a:rPr dirty="0"/>
              <a:t>Hidden</a:t>
            </a:r>
            <a:r>
              <a:rPr spc="-35" dirty="0"/>
              <a:t> </a:t>
            </a:r>
            <a:r>
              <a:rPr dirty="0"/>
              <a:t>Subscription</a:t>
            </a:r>
            <a:r>
              <a:rPr spc="-15" dirty="0"/>
              <a:t> </a:t>
            </a:r>
            <a:r>
              <a:rPr dirty="0"/>
              <a:t>and</a:t>
            </a:r>
            <a:r>
              <a:rPr spc="-55" dirty="0"/>
              <a:t> </a:t>
            </a:r>
            <a:r>
              <a:rPr spc="-10" dirty="0"/>
              <a:t>Cash-</a:t>
            </a:r>
            <a:r>
              <a:rPr dirty="0"/>
              <a:t>Flow</a:t>
            </a:r>
            <a:r>
              <a:rPr spc="-40" dirty="0"/>
              <a:t> </a:t>
            </a:r>
            <a:r>
              <a:rPr spc="-10" dirty="0"/>
              <a:t>Alerts</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5974079"/>
            <a:ext cx="10972800" cy="426720"/>
          </a:xfrm>
          <a:custGeom>
            <a:avLst/>
            <a:gdLst/>
            <a:ahLst/>
            <a:cxnLst/>
            <a:rect l="l" t="t" r="r" b="b"/>
            <a:pathLst>
              <a:path w="10972800" h="426720">
                <a:moveTo>
                  <a:pt x="10972800" y="0"/>
                </a:moveTo>
                <a:lnTo>
                  <a:pt x="0" y="0"/>
                </a:lnTo>
                <a:lnTo>
                  <a:pt x="0" y="426719"/>
                </a:lnTo>
                <a:lnTo>
                  <a:pt x="10972800" y="426719"/>
                </a:lnTo>
                <a:lnTo>
                  <a:pt x="10972800" y="0"/>
                </a:lnTo>
                <a:close/>
              </a:path>
            </a:pathLst>
          </a:custGeom>
          <a:solidFill>
            <a:srgbClr val="BC572C"/>
          </a:solidFill>
        </p:spPr>
        <p:txBody>
          <a:bodyPr wrap="square" lIns="0" tIns="0" rIns="0" bIns="0" rtlCol="0"/>
          <a:lstStyle/>
          <a:p>
            <a:endParaRPr/>
          </a:p>
        </p:txBody>
      </p:sp>
      <p:sp>
        <p:nvSpPr>
          <p:cNvPr id="17" name="bg object 17"/>
          <p:cNvSpPr/>
          <p:nvPr/>
        </p:nvSpPr>
        <p:spPr>
          <a:xfrm>
            <a:off x="0" y="5912024"/>
            <a:ext cx="10972800" cy="61594"/>
          </a:xfrm>
          <a:custGeom>
            <a:avLst/>
            <a:gdLst/>
            <a:ahLst/>
            <a:cxnLst/>
            <a:rect l="l" t="t" r="r" b="b"/>
            <a:pathLst>
              <a:path w="10972800" h="61595">
                <a:moveTo>
                  <a:pt x="10972800" y="0"/>
                </a:moveTo>
                <a:lnTo>
                  <a:pt x="0" y="0"/>
                </a:lnTo>
                <a:lnTo>
                  <a:pt x="0" y="61598"/>
                </a:lnTo>
                <a:lnTo>
                  <a:pt x="10972800" y="61598"/>
                </a:lnTo>
                <a:lnTo>
                  <a:pt x="10972800" y="0"/>
                </a:lnTo>
                <a:close/>
              </a:path>
            </a:pathLst>
          </a:custGeom>
          <a:solidFill>
            <a:srgbClr val="E38312"/>
          </a:solidFill>
        </p:spPr>
        <p:txBody>
          <a:bodyPr wrap="square" lIns="0" tIns="0" rIns="0" bIns="0" rtlCol="0"/>
          <a:lstStyle/>
          <a:p>
            <a:endParaRPr/>
          </a:p>
        </p:txBody>
      </p:sp>
      <p:sp>
        <p:nvSpPr>
          <p:cNvPr id="18" name="bg object 18"/>
          <p:cNvSpPr/>
          <p:nvPr/>
        </p:nvSpPr>
        <p:spPr>
          <a:xfrm>
            <a:off x="1074178" y="1622043"/>
            <a:ext cx="8970645" cy="0"/>
          </a:xfrm>
          <a:custGeom>
            <a:avLst/>
            <a:gdLst/>
            <a:ahLst/>
            <a:cxnLst/>
            <a:rect l="l" t="t" r="r" b="b"/>
            <a:pathLst>
              <a:path w="8970645">
                <a:moveTo>
                  <a:pt x="0" y="0"/>
                </a:moveTo>
                <a:lnTo>
                  <a:pt x="8970251" y="0"/>
                </a:lnTo>
              </a:path>
            </a:pathLst>
          </a:custGeom>
          <a:ln w="9525">
            <a:solidFill>
              <a:srgbClr val="7E7E7E"/>
            </a:solidFill>
          </a:ln>
        </p:spPr>
        <p:txBody>
          <a:bodyPr wrap="square" lIns="0" tIns="0" rIns="0" bIns="0" rtlCol="0"/>
          <a:lstStyle/>
          <a:p>
            <a:endParaRPr/>
          </a:p>
        </p:txBody>
      </p:sp>
      <p:pic>
        <p:nvPicPr>
          <p:cNvPr id="19" name="bg object 19"/>
          <p:cNvPicPr/>
          <p:nvPr/>
        </p:nvPicPr>
        <p:blipFill>
          <a:blip r:embed="rId2" cstate="print"/>
          <a:stretch>
            <a:fillRect/>
          </a:stretch>
        </p:blipFill>
        <p:spPr>
          <a:xfrm>
            <a:off x="589381" y="1172184"/>
            <a:ext cx="9610090" cy="4664075"/>
          </a:xfrm>
          <a:prstGeom prst="rect">
            <a:avLst/>
          </a:prstGeom>
        </p:spPr>
      </p:pic>
      <p:sp>
        <p:nvSpPr>
          <p:cNvPr id="20" name="bg object 20"/>
          <p:cNvSpPr/>
          <p:nvPr/>
        </p:nvSpPr>
        <p:spPr>
          <a:xfrm>
            <a:off x="9469120" y="2865119"/>
            <a:ext cx="0" cy="497840"/>
          </a:xfrm>
          <a:custGeom>
            <a:avLst/>
            <a:gdLst/>
            <a:ahLst/>
            <a:cxnLst/>
            <a:rect l="l" t="t" r="r" b="b"/>
            <a:pathLst>
              <a:path h="497839">
                <a:moveTo>
                  <a:pt x="0" y="0"/>
                </a:moveTo>
                <a:lnTo>
                  <a:pt x="0" y="497839"/>
                </a:lnTo>
              </a:path>
            </a:pathLst>
          </a:custGeom>
          <a:ln w="9525">
            <a:solidFill>
              <a:srgbClr val="000000"/>
            </a:solidFill>
          </a:ln>
        </p:spPr>
        <p:txBody>
          <a:bodyPr wrap="square" lIns="0" tIns="0" rIns="0" bIns="0" rtlCol="0"/>
          <a:lstStyle/>
          <a:p>
            <a:endParaRPr/>
          </a:p>
        </p:txBody>
      </p:sp>
      <p:sp>
        <p:nvSpPr>
          <p:cNvPr id="21" name="bg object 21"/>
          <p:cNvSpPr/>
          <p:nvPr/>
        </p:nvSpPr>
        <p:spPr>
          <a:xfrm>
            <a:off x="10105517" y="979550"/>
            <a:ext cx="500380" cy="734060"/>
          </a:xfrm>
          <a:custGeom>
            <a:avLst/>
            <a:gdLst/>
            <a:ahLst/>
            <a:cxnLst/>
            <a:rect l="l" t="t" r="r" b="b"/>
            <a:pathLst>
              <a:path w="500379" h="734060">
                <a:moveTo>
                  <a:pt x="500126" y="363474"/>
                </a:moveTo>
                <a:lnTo>
                  <a:pt x="498221" y="362585"/>
                </a:lnTo>
                <a:lnTo>
                  <a:pt x="489458" y="362585"/>
                </a:lnTo>
                <a:lnTo>
                  <a:pt x="381508" y="362585"/>
                </a:lnTo>
                <a:lnTo>
                  <a:pt x="379984" y="362585"/>
                </a:lnTo>
                <a:lnTo>
                  <a:pt x="210058" y="365188"/>
                </a:lnTo>
                <a:lnTo>
                  <a:pt x="210058" y="274447"/>
                </a:lnTo>
                <a:lnTo>
                  <a:pt x="209042" y="273812"/>
                </a:lnTo>
                <a:lnTo>
                  <a:pt x="208153" y="273177"/>
                </a:lnTo>
                <a:lnTo>
                  <a:pt x="207137" y="272542"/>
                </a:lnTo>
                <a:lnTo>
                  <a:pt x="206248" y="271780"/>
                </a:lnTo>
                <a:lnTo>
                  <a:pt x="205232" y="271018"/>
                </a:lnTo>
                <a:lnTo>
                  <a:pt x="202819" y="268605"/>
                </a:lnTo>
                <a:lnTo>
                  <a:pt x="198628" y="262128"/>
                </a:lnTo>
                <a:lnTo>
                  <a:pt x="198488" y="261950"/>
                </a:lnTo>
                <a:lnTo>
                  <a:pt x="202184" y="245364"/>
                </a:lnTo>
                <a:lnTo>
                  <a:pt x="205994" y="232664"/>
                </a:lnTo>
                <a:lnTo>
                  <a:pt x="207899" y="227330"/>
                </a:lnTo>
                <a:lnTo>
                  <a:pt x="208534" y="225044"/>
                </a:lnTo>
                <a:lnTo>
                  <a:pt x="209169" y="222885"/>
                </a:lnTo>
                <a:lnTo>
                  <a:pt x="209931" y="218313"/>
                </a:lnTo>
                <a:lnTo>
                  <a:pt x="209956" y="153035"/>
                </a:lnTo>
                <a:lnTo>
                  <a:pt x="210058" y="0"/>
                </a:lnTo>
                <a:lnTo>
                  <a:pt x="179832" y="0"/>
                </a:lnTo>
                <a:lnTo>
                  <a:pt x="179832" y="188087"/>
                </a:lnTo>
                <a:lnTo>
                  <a:pt x="179832" y="236639"/>
                </a:lnTo>
                <a:lnTo>
                  <a:pt x="179832" y="188087"/>
                </a:lnTo>
                <a:lnTo>
                  <a:pt x="179832" y="0"/>
                </a:lnTo>
                <a:lnTo>
                  <a:pt x="102108" y="0"/>
                </a:lnTo>
                <a:lnTo>
                  <a:pt x="101600" y="4572"/>
                </a:lnTo>
                <a:lnTo>
                  <a:pt x="101092" y="6858"/>
                </a:lnTo>
                <a:lnTo>
                  <a:pt x="100584" y="9017"/>
                </a:lnTo>
                <a:lnTo>
                  <a:pt x="99949" y="11303"/>
                </a:lnTo>
                <a:lnTo>
                  <a:pt x="97917" y="16637"/>
                </a:lnTo>
                <a:lnTo>
                  <a:pt x="94234" y="29337"/>
                </a:lnTo>
                <a:lnTo>
                  <a:pt x="83693" y="76073"/>
                </a:lnTo>
                <a:lnTo>
                  <a:pt x="80264" y="88773"/>
                </a:lnTo>
                <a:lnTo>
                  <a:pt x="77216" y="101473"/>
                </a:lnTo>
                <a:lnTo>
                  <a:pt x="74803" y="114300"/>
                </a:lnTo>
                <a:lnTo>
                  <a:pt x="70993" y="153035"/>
                </a:lnTo>
                <a:lnTo>
                  <a:pt x="70993" y="165608"/>
                </a:lnTo>
                <a:lnTo>
                  <a:pt x="31496" y="165608"/>
                </a:lnTo>
                <a:lnTo>
                  <a:pt x="30226" y="174244"/>
                </a:lnTo>
                <a:lnTo>
                  <a:pt x="30187" y="220637"/>
                </a:lnTo>
                <a:lnTo>
                  <a:pt x="30099" y="405638"/>
                </a:lnTo>
                <a:lnTo>
                  <a:pt x="30099" y="222504"/>
                </a:lnTo>
                <a:lnTo>
                  <a:pt x="29591" y="231902"/>
                </a:lnTo>
                <a:lnTo>
                  <a:pt x="25006" y="265811"/>
                </a:lnTo>
                <a:lnTo>
                  <a:pt x="24892" y="266700"/>
                </a:lnTo>
                <a:lnTo>
                  <a:pt x="21082" y="291592"/>
                </a:lnTo>
                <a:lnTo>
                  <a:pt x="20193" y="299720"/>
                </a:lnTo>
                <a:lnTo>
                  <a:pt x="18923" y="307848"/>
                </a:lnTo>
                <a:lnTo>
                  <a:pt x="17272" y="315849"/>
                </a:lnTo>
                <a:lnTo>
                  <a:pt x="10795" y="338074"/>
                </a:lnTo>
                <a:lnTo>
                  <a:pt x="8509" y="344551"/>
                </a:lnTo>
                <a:lnTo>
                  <a:pt x="6477" y="351028"/>
                </a:lnTo>
                <a:lnTo>
                  <a:pt x="4826" y="357632"/>
                </a:lnTo>
                <a:lnTo>
                  <a:pt x="3429" y="364236"/>
                </a:lnTo>
                <a:lnTo>
                  <a:pt x="889" y="382778"/>
                </a:lnTo>
                <a:lnTo>
                  <a:pt x="0" y="428498"/>
                </a:lnTo>
                <a:lnTo>
                  <a:pt x="0" y="644779"/>
                </a:lnTo>
                <a:lnTo>
                  <a:pt x="254" y="655828"/>
                </a:lnTo>
                <a:lnTo>
                  <a:pt x="40792" y="655828"/>
                </a:lnTo>
                <a:lnTo>
                  <a:pt x="41021" y="667258"/>
                </a:lnTo>
                <a:lnTo>
                  <a:pt x="41021" y="734060"/>
                </a:lnTo>
                <a:lnTo>
                  <a:pt x="149098" y="734060"/>
                </a:lnTo>
                <a:lnTo>
                  <a:pt x="174371" y="726567"/>
                </a:lnTo>
                <a:lnTo>
                  <a:pt x="184150" y="722122"/>
                </a:lnTo>
                <a:lnTo>
                  <a:pt x="363016" y="642620"/>
                </a:lnTo>
                <a:lnTo>
                  <a:pt x="487172" y="586613"/>
                </a:lnTo>
                <a:lnTo>
                  <a:pt x="497306" y="581914"/>
                </a:lnTo>
                <a:lnTo>
                  <a:pt x="497433" y="581914"/>
                </a:lnTo>
                <a:lnTo>
                  <a:pt x="500126" y="579501"/>
                </a:lnTo>
                <a:lnTo>
                  <a:pt x="500126" y="363474"/>
                </a:lnTo>
                <a:close/>
              </a:path>
            </a:pathLst>
          </a:custGeom>
          <a:solidFill>
            <a:srgbClr val="FFFFFF">
              <a:alpha val="50195"/>
            </a:srgbClr>
          </a:solidFill>
        </p:spPr>
        <p:txBody>
          <a:bodyPr wrap="square" lIns="0" tIns="0" rIns="0" bIns="0" rtlCol="0"/>
          <a:lstStyle/>
          <a:p>
            <a:endParaRPr/>
          </a:p>
        </p:txBody>
      </p:sp>
      <p:sp>
        <p:nvSpPr>
          <p:cNvPr id="22" name="bg object 22"/>
          <p:cNvSpPr/>
          <p:nvPr/>
        </p:nvSpPr>
        <p:spPr>
          <a:xfrm>
            <a:off x="759599" y="1379473"/>
            <a:ext cx="25400" cy="25400"/>
          </a:xfrm>
          <a:custGeom>
            <a:avLst/>
            <a:gdLst/>
            <a:ahLst/>
            <a:cxnLst/>
            <a:rect l="l" t="t" r="r" b="b"/>
            <a:pathLst>
              <a:path w="25400" h="25400">
                <a:moveTo>
                  <a:pt x="19557" y="0"/>
                </a:moveTo>
                <a:lnTo>
                  <a:pt x="5638" y="0"/>
                </a:lnTo>
                <a:lnTo>
                  <a:pt x="0" y="5714"/>
                </a:lnTo>
                <a:lnTo>
                  <a:pt x="0" y="19558"/>
                </a:lnTo>
                <a:lnTo>
                  <a:pt x="5638" y="25273"/>
                </a:lnTo>
                <a:lnTo>
                  <a:pt x="19557" y="25273"/>
                </a:lnTo>
                <a:lnTo>
                  <a:pt x="25196" y="19558"/>
                </a:lnTo>
                <a:lnTo>
                  <a:pt x="25196" y="12700"/>
                </a:lnTo>
                <a:lnTo>
                  <a:pt x="25196" y="5714"/>
                </a:lnTo>
                <a:lnTo>
                  <a:pt x="19557" y="0"/>
                </a:lnTo>
                <a:close/>
              </a:path>
            </a:pathLst>
          </a:custGeom>
          <a:solidFill>
            <a:srgbClr val="FFFFFF"/>
          </a:solidFill>
        </p:spPr>
        <p:txBody>
          <a:bodyPr wrap="square" lIns="0" tIns="0" rIns="0" bIns="0" rtlCol="0"/>
          <a:lstStyle/>
          <a:p>
            <a:endParaRPr/>
          </a:p>
        </p:txBody>
      </p:sp>
      <p:pic>
        <p:nvPicPr>
          <p:cNvPr id="23" name="bg object 23"/>
          <p:cNvPicPr/>
          <p:nvPr/>
        </p:nvPicPr>
        <p:blipFill>
          <a:blip r:embed="rId3" cstate="print"/>
          <a:stretch>
            <a:fillRect/>
          </a:stretch>
        </p:blipFill>
        <p:spPr>
          <a:xfrm>
            <a:off x="9731756" y="1741423"/>
            <a:ext cx="800608" cy="572770"/>
          </a:xfrm>
          <a:prstGeom prst="rect">
            <a:avLst/>
          </a:prstGeom>
        </p:spPr>
      </p:pic>
      <p:sp>
        <p:nvSpPr>
          <p:cNvPr id="24" name="bg object 24"/>
          <p:cNvSpPr/>
          <p:nvPr/>
        </p:nvSpPr>
        <p:spPr>
          <a:xfrm>
            <a:off x="10188194" y="3600196"/>
            <a:ext cx="11430" cy="1348105"/>
          </a:xfrm>
          <a:custGeom>
            <a:avLst/>
            <a:gdLst/>
            <a:ahLst/>
            <a:cxnLst/>
            <a:rect l="l" t="t" r="r" b="b"/>
            <a:pathLst>
              <a:path w="11429" h="1348104">
                <a:moveTo>
                  <a:pt x="11302" y="0"/>
                </a:moveTo>
                <a:lnTo>
                  <a:pt x="11302" y="585723"/>
                </a:lnTo>
              </a:path>
              <a:path w="11429" h="1348104">
                <a:moveTo>
                  <a:pt x="0" y="761999"/>
                </a:moveTo>
                <a:lnTo>
                  <a:pt x="0" y="1347723"/>
                </a:lnTo>
              </a:path>
            </a:pathLst>
          </a:custGeom>
          <a:ln w="9525">
            <a:solidFill>
              <a:srgbClr val="000000"/>
            </a:solidFill>
          </a:ln>
        </p:spPr>
        <p:txBody>
          <a:bodyPr wrap="square" lIns="0" tIns="0" rIns="0" bIns="0" rtlCol="0"/>
          <a:lstStyle/>
          <a:p>
            <a:endParaRPr/>
          </a:p>
        </p:txBody>
      </p:sp>
      <p:sp>
        <p:nvSpPr>
          <p:cNvPr id="25" name="bg object 25"/>
          <p:cNvSpPr/>
          <p:nvPr/>
        </p:nvSpPr>
        <p:spPr>
          <a:xfrm>
            <a:off x="10178160" y="3564255"/>
            <a:ext cx="24765" cy="24765"/>
          </a:xfrm>
          <a:custGeom>
            <a:avLst/>
            <a:gdLst/>
            <a:ahLst/>
            <a:cxnLst/>
            <a:rect l="l" t="t" r="r" b="b"/>
            <a:pathLst>
              <a:path w="24765" h="24764">
                <a:moveTo>
                  <a:pt x="19177" y="0"/>
                </a:moveTo>
                <a:lnTo>
                  <a:pt x="5461" y="0"/>
                </a:lnTo>
                <a:lnTo>
                  <a:pt x="0" y="5461"/>
                </a:lnTo>
                <a:lnTo>
                  <a:pt x="0" y="19177"/>
                </a:lnTo>
                <a:lnTo>
                  <a:pt x="5461" y="24765"/>
                </a:lnTo>
                <a:lnTo>
                  <a:pt x="19177" y="24765"/>
                </a:lnTo>
                <a:lnTo>
                  <a:pt x="24765" y="19177"/>
                </a:lnTo>
                <a:lnTo>
                  <a:pt x="24765" y="12319"/>
                </a:lnTo>
                <a:lnTo>
                  <a:pt x="24765" y="5461"/>
                </a:lnTo>
                <a:lnTo>
                  <a:pt x="19177" y="0"/>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400" b="1" i="0">
                <a:solidFill>
                  <a:schemeClr val="tx1"/>
                </a:solidFill>
                <a:latin typeface="Times New Roman"/>
                <a:cs typeface="Times New Roman"/>
              </a:defRPr>
            </a:lvl1pPr>
          </a:lstStyle>
          <a:p>
            <a:pPr marL="12700">
              <a:lnSpc>
                <a:spcPts val="1630"/>
              </a:lnSpc>
            </a:pPr>
            <a:r>
              <a:rPr dirty="0"/>
              <a:t>FinGuard</a:t>
            </a:r>
            <a:r>
              <a:rPr spc="-45" dirty="0"/>
              <a:t> </a:t>
            </a:r>
            <a:r>
              <a:rPr dirty="0"/>
              <a:t>–</a:t>
            </a:r>
            <a:r>
              <a:rPr spc="-5" dirty="0"/>
              <a:t> </a:t>
            </a:r>
            <a:r>
              <a:rPr dirty="0"/>
              <a:t>AI Agent</a:t>
            </a:r>
            <a:r>
              <a:rPr spc="-20" dirty="0"/>
              <a:t> </a:t>
            </a:r>
            <a:r>
              <a:rPr dirty="0"/>
              <a:t>for</a:t>
            </a:r>
            <a:r>
              <a:rPr spc="-20" dirty="0"/>
              <a:t> </a:t>
            </a:r>
            <a:r>
              <a:rPr dirty="0"/>
              <a:t>Hidden</a:t>
            </a:r>
            <a:r>
              <a:rPr spc="-35" dirty="0"/>
              <a:t> </a:t>
            </a:r>
            <a:r>
              <a:rPr dirty="0"/>
              <a:t>Subscription</a:t>
            </a:r>
            <a:r>
              <a:rPr spc="-15" dirty="0"/>
              <a:t> </a:t>
            </a:r>
            <a:r>
              <a:rPr dirty="0"/>
              <a:t>and</a:t>
            </a:r>
            <a:r>
              <a:rPr spc="-55" dirty="0"/>
              <a:t> </a:t>
            </a:r>
            <a:r>
              <a:rPr spc="-10" dirty="0"/>
              <a:t>Cash-</a:t>
            </a:r>
            <a:r>
              <a:rPr dirty="0"/>
              <a:t>Flow</a:t>
            </a:r>
            <a:r>
              <a:rPr spc="-40" dirty="0"/>
              <a:t> </a:t>
            </a:r>
            <a:r>
              <a:rPr spc="-10" dirty="0"/>
              <a:t>Alerts</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1" i="0">
                <a:solidFill>
                  <a:schemeClr val="tx1"/>
                </a:solidFill>
                <a:latin typeface="Times New Roman"/>
                <a:cs typeface="Times New Roman"/>
              </a:defRPr>
            </a:lvl1pPr>
          </a:lstStyle>
          <a:p>
            <a:pPr marL="12700">
              <a:lnSpc>
                <a:spcPts val="1630"/>
              </a:lnSpc>
            </a:pPr>
            <a:r>
              <a:rPr dirty="0"/>
              <a:t>FinGuard</a:t>
            </a:r>
            <a:r>
              <a:rPr spc="-45" dirty="0"/>
              <a:t> </a:t>
            </a:r>
            <a:r>
              <a:rPr dirty="0"/>
              <a:t>–</a:t>
            </a:r>
            <a:r>
              <a:rPr spc="-5" dirty="0"/>
              <a:t> </a:t>
            </a:r>
            <a:r>
              <a:rPr dirty="0"/>
              <a:t>AI Agent</a:t>
            </a:r>
            <a:r>
              <a:rPr spc="-20" dirty="0"/>
              <a:t> </a:t>
            </a:r>
            <a:r>
              <a:rPr dirty="0"/>
              <a:t>for</a:t>
            </a:r>
            <a:r>
              <a:rPr spc="-20" dirty="0"/>
              <a:t> </a:t>
            </a:r>
            <a:r>
              <a:rPr dirty="0"/>
              <a:t>Hidden</a:t>
            </a:r>
            <a:r>
              <a:rPr spc="-35" dirty="0"/>
              <a:t> </a:t>
            </a:r>
            <a:r>
              <a:rPr dirty="0"/>
              <a:t>Subscription</a:t>
            </a:r>
            <a:r>
              <a:rPr spc="-15" dirty="0"/>
              <a:t> </a:t>
            </a:r>
            <a:r>
              <a:rPr dirty="0"/>
              <a:t>and</a:t>
            </a:r>
            <a:r>
              <a:rPr spc="-55" dirty="0"/>
              <a:t> </a:t>
            </a:r>
            <a:r>
              <a:rPr spc="-10" dirty="0"/>
              <a:t>Cash-</a:t>
            </a:r>
            <a:r>
              <a:rPr dirty="0"/>
              <a:t>Flow</a:t>
            </a:r>
            <a:r>
              <a:rPr spc="-40" dirty="0"/>
              <a:t> </a:t>
            </a:r>
            <a:r>
              <a:rPr spc="-10" dirty="0"/>
              <a:t>Alerts</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5974079"/>
            <a:ext cx="10972800" cy="426720"/>
          </a:xfrm>
          <a:custGeom>
            <a:avLst/>
            <a:gdLst/>
            <a:ahLst/>
            <a:cxnLst/>
            <a:rect l="l" t="t" r="r" b="b"/>
            <a:pathLst>
              <a:path w="10972800" h="426720">
                <a:moveTo>
                  <a:pt x="10972800" y="0"/>
                </a:moveTo>
                <a:lnTo>
                  <a:pt x="0" y="0"/>
                </a:lnTo>
                <a:lnTo>
                  <a:pt x="0" y="426719"/>
                </a:lnTo>
                <a:lnTo>
                  <a:pt x="10972800" y="426719"/>
                </a:lnTo>
                <a:lnTo>
                  <a:pt x="10972800" y="0"/>
                </a:lnTo>
                <a:close/>
              </a:path>
            </a:pathLst>
          </a:custGeom>
          <a:solidFill>
            <a:srgbClr val="BC572C"/>
          </a:solidFill>
        </p:spPr>
        <p:txBody>
          <a:bodyPr wrap="square" lIns="0" tIns="0" rIns="0" bIns="0" rtlCol="0"/>
          <a:lstStyle/>
          <a:p>
            <a:endParaRPr/>
          </a:p>
        </p:txBody>
      </p:sp>
      <p:sp>
        <p:nvSpPr>
          <p:cNvPr id="17" name="bg object 17"/>
          <p:cNvSpPr/>
          <p:nvPr/>
        </p:nvSpPr>
        <p:spPr>
          <a:xfrm>
            <a:off x="0" y="5912024"/>
            <a:ext cx="10972800" cy="61594"/>
          </a:xfrm>
          <a:custGeom>
            <a:avLst/>
            <a:gdLst/>
            <a:ahLst/>
            <a:cxnLst/>
            <a:rect l="l" t="t" r="r" b="b"/>
            <a:pathLst>
              <a:path w="10972800" h="61595">
                <a:moveTo>
                  <a:pt x="10972800" y="0"/>
                </a:moveTo>
                <a:lnTo>
                  <a:pt x="0" y="0"/>
                </a:lnTo>
                <a:lnTo>
                  <a:pt x="0" y="61598"/>
                </a:lnTo>
                <a:lnTo>
                  <a:pt x="10972800" y="61598"/>
                </a:lnTo>
                <a:lnTo>
                  <a:pt x="10972800" y="0"/>
                </a:lnTo>
                <a:close/>
              </a:path>
            </a:pathLst>
          </a:custGeom>
          <a:solidFill>
            <a:srgbClr val="E38312"/>
          </a:solidFill>
        </p:spPr>
        <p:txBody>
          <a:bodyPr wrap="square" lIns="0" tIns="0" rIns="0" bIns="0" rtlCol="0"/>
          <a:lstStyle/>
          <a:p>
            <a:endParaRPr/>
          </a:p>
        </p:txBody>
      </p:sp>
      <p:sp>
        <p:nvSpPr>
          <p:cNvPr id="2" name="Holder 2"/>
          <p:cNvSpPr>
            <a:spLocks noGrp="1"/>
          </p:cNvSpPr>
          <p:nvPr>
            <p:ph type="title"/>
          </p:nvPr>
        </p:nvSpPr>
        <p:spPr>
          <a:xfrm>
            <a:off x="1066291" y="46482"/>
            <a:ext cx="8502015" cy="1285112"/>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74852" y="1622882"/>
            <a:ext cx="9081135" cy="4284980"/>
          </a:xfrm>
          <a:prstGeom prst="rect">
            <a:avLst/>
          </a:prstGeom>
        </p:spPr>
        <p:txBody>
          <a:bodyPr wrap="square" lIns="0" tIns="0" rIns="0" bIns="0">
            <a:spAutoFit/>
          </a:bodyPr>
          <a:lstStyle>
            <a:lvl1pPr>
              <a:defRPr sz="1800" b="0" i="0">
                <a:solidFill>
                  <a:srgbClr val="3E3E3E"/>
                </a:solidFill>
                <a:latin typeface="Times New Roman"/>
                <a:cs typeface="Times New Roman"/>
              </a:defRPr>
            </a:lvl1pPr>
          </a:lstStyle>
          <a:p>
            <a:endParaRPr/>
          </a:p>
        </p:txBody>
      </p:sp>
      <p:sp>
        <p:nvSpPr>
          <p:cNvPr id="4" name="Holder 4"/>
          <p:cNvSpPr>
            <a:spLocks noGrp="1"/>
          </p:cNvSpPr>
          <p:nvPr>
            <p:ph type="ftr" sz="quarter" idx="5"/>
          </p:nvPr>
        </p:nvSpPr>
        <p:spPr>
          <a:xfrm>
            <a:off x="403352" y="5983538"/>
            <a:ext cx="5957366" cy="380525"/>
          </a:xfrm>
          <a:prstGeom prst="rect">
            <a:avLst/>
          </a:prstGeom>
        </p:spPr>
        <p:txBody>
          <a:bodyPr wrap="square" lIns="0" tIns="0" rIns="0" bIns="0">
            <a:spAutoFit/>
          </a:bodyPr>
          <a:lstStyle>
            <a:lvl1pPr>
              <a:defRPr sz="1400" b="1" i="0">
                <a:solidFill>
                  <a:schemeClr val="tx1"/>
                </a:solidFill>
                <a:latin typeface="Times New Roman"/>
                <a:cs typeface="Times New Roman"/>
              </a:defRPr>
            </a:lvl1pPr>
          </a:lstStyle>
          <a:p>
            <a:pPr marL="12700">
              <a:lnSpc>
                <a:spcPts val="1630"/>
              </a:lnSpc>
            </a:pPr>
            <a:r>
              <a:rPr dirty="0"/>
              <a:t>FinGuard</a:t>
            </a:r>
            <a:r>
              <a:rPr spc="-45" dirty="0"/>
              <a:t> </a:t>
            </a:r>
            <a:r>
              <a:rPr dirty="0"/>
              <a:t>–</a:t>
            </a:r>
            <a:r>
              <a:rPr spc="-5" dirty="0"/>
              <a:t> </a:t>
            </a:r>
            <a:r>
              <a:rPr dirty="0"/>
              <a:t>AI Agent</a:t>
            </a:r>
            <a:r>
              <a:rPr spc="-20" dirty="0"/>
              <a:t> </a:t>
            </a:r>
            <a:r>
              <a:rPr dirty="0"/>
              <a:t>for</a:t>
            </a:r>
            <a:r>
              <a:rPr spc="-20" dirty="0"/>
              <a:t> </a:t>
            </a:r>
            <a:r>
              <a:rPr dirty="0"/>
              <a:t>Hidden</a:t>
            </a:r>
            <a:r>
              <a:rPr spc="-35" dirty="0"/>
              <a:t> </a:t>
            </a:r>
            <a:r>
              <a:rPr dirty="0"/>
              <a:t>Subscription</a:t>
            </a:r>
            <a:r>
              <a:rPr spc="-15" dirty="0"/>
              <a:t> </a:t>
            </a:r>
            <a:r>
              <a:rPr dirty="0"/>
              <a:t>and</a:t>
            </a:r>
            <a:r>
              <a:rPr spc="-55" dirty="0"/>
              <a:t> </a:t>
            </a:r>
            <a:r>
              <a:rPr spc="-10" dirty="0"/>
              <a:t>Cash-</a:t>
            </a:r>
            <a:r>
              <a:rPr dirty="0"/>
              <a:t>Flow</a:t>
            </a:r>
            <a:r>
              <a:rPr spc="-40" dirty="0"/>
              <a:t> </a:t>
            </a:r>
            <a:r>
              <a:rPr spc="-10" dirty="0"/>
              <a:t>Alerts</a:t>
            </a:r>
          </a:p>
        </p:txBody>
      </p:sp>
      <p:sp>
        <p:nvSpPr>
          <p:cNvPr id="5" name="Holder 5"/>
          <p:cNvSpPr>
            <a:spLocks noGrp="1"/>
          </p:cNvSpPr>
          <p:nvPr>
            <p:ph type="dt" sz="half" idx="6"/>
          </p:nvPr>
        </p:nvSpPr>
        <p:spPr>
          <a:xfrm>
            <a:off x="548640" y="5952744"/>
            <a:ext cx="2523744" cy="32004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9/10/2026</a:t>
            </a:fld>
            <a:endParaRPr lang="en-US"/>
          </a:p>
        </p:txBody>
      </p:sp>
      <p:sp>
        <p:nvSpPr>
          <p:cNvPr id="6" name="Holder 6"/>
          <p:cNvSpPr>
            <a:spLocks noGrp="1"/>
          </p:cNvSpPr>
          <p:nvPr>
            <p:ph type="sldNum" sz="quarter" idx="7"/>
          </p:nvPr>
        </p:nvSpPr>
        <p:spPr>
          <a:xfrm>
            <a:off x="7900416" y="5952744"/>
            <a:ext cx="2523744" cy="32004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4" y="5912027"/>
            <a:ext cx="10972800" cy="488950"/>
            <a:chOff x="14" y="5912027"/>
            <a:chExt cx="10972800" cy="488950"/>
          </a:xfrm>
        </p:grpSpPr>
        <p:sp>
          <p:nvSpPr>
            <p:cNvPr id="3" name="object 3"/>
            <p:cNvSpPr/>
            <p:nvPr/>
          </p:nvSpPr>
          <p:spPr>
            <a:xfrm>
              <a:off x="2858" y="5974079"/>
              <a:ext cx="10970260" cy="426720"/>
            </a:xfrm>
            <a:custGeom>
              <a:avLst/>
              <a:gdLst/>
              <a:ahLst/>
              <a:cxnLst/>
              <a:rect l="l" t="t" r="r" b="b"/>
              <a:pathLst>
                <a:path w="10970260" h="426720">
                  <a:moveTo>
                    <a:pt x="10969879" y="0"/>
                  </a:moveTo>
                  <a:lnTo>
                    <a:pt x="0" y="0"/>
                  </a:lnTo>
                  <a:lnTo>
                    <a:pt x="0" y="426719"/>
                  </a:lnTo>
                  <a:lnTo>
                    <a:pt x="10969879" y="426719"/>
                  </a:lnTo>
                  <a:lnTo>
                    <a:pt x="10969879" y="0"/>
                  </a:lnTo>
                  <a:close/>
                </a:path>
              </a:pathLst>
            </a:custGeom>
            <a:solidFill>
              <a:srgbClr val="BC572C"/>
            </a:solidFill>
          </p:spPr>
          <p:txBody>
            <a:bodyPr wrap="square" lIns="0" tIns="0" rIns="0" bIns="0" rtlCol="0"/>
            <a:lstStyle/>
            <a:p>
              <a:endParaRPr/>
            </a:p>
          </p:txBody>
        </p:sp>
        <p:sp>
          <p:nvSpPr>
            <p:cNvPr id="4" name="object 4"/>
            <p:cNvSpPr/>
            <p:nvPr/>
          </p:nvSpPr>
          <p:spPr>
            <a:xfrm>
              <a:off x="14" y="5912027"/>
              <a:ext cx="10970260" cy="60325"/>
            </a:xfrm>
            <a:custGeom>
              <a:avLst/>
              <a:gdLst/>
              <a:ahLst/>
              <a:cxnLst/>
              <a:rect l="l" t="t" r="r" b="b"/>
              <a:pathLst>
                <a:path w="10970260" h="60325">
                  <a:moveTo>
                    <a:pt x="10969879" y="0"/>
                  </a:moveTo>
                  <a:lnTo>
                    <a:pt x="0" y="0"/>
                  </a:lnTo>
                  <a:lnTo>
                    <a:pt x="0" y="59740"/>
                  </a:lnTo>
                  <a:lnTo>
                    <a:pt x="10969879" y="59740"/>
                  </a:lnTo>
                  <a:lnTo>
                    <a:pt x="10969879" y="0"/>
                  </a:lnTo>
                  <a:close/>
                </a:path>
              </a:pathLst>
            </a:custGeom>
            <a:solidFill>
              <a:srgbClr val="E38312"/>
            </a:solidFill>
          </p:spPr>
          <p:txBody>
            <a:bodyPr wrap="square" lIns="0" tIns="0" rIns="0" bIns="0" rtlCol="0"/>
            <a:lstStyle/>
            <a:p>
              <a:endParaRPr/>
            </a:p>
          </p:txBody>
        </p:sp>
      </p:grpSp>
      <p:sp>
        <p:nvSpPr>
          <p:cNvPr id="5" name="object 5"/>
          <p:cNvSpPr txBox="1"/>
          <p:nvPr/>
        </p:nvSpPr>
        <p:spPr>
          <a:xfrm>
            <a:off x="1326641" y="1665478"/>
            <a:ext cx="8134984" cy="1084912"/>
          </a:xfrm>
          <a:prstGeom prst="rect">
            <a:avLst/>
          </a:prstGeom>
        </p:spPr>
        <p:txBody>
          <a:bodyPr vert="horz" wrap="square" lIns="0" tIns="12700" rIns="0" bIns="0" rtlCol="0">
            <a:spAutoFit/>
          </a:bodyPr>
          <a:lstStyle/>
          <a:p>
            <a:pPr algn="ctr">
              <a:lnSpc>
                <a:spcPct val="100000"/>
              </a:lnSpc>
              <a:spcBef>
                <a:spcPts val="100"/>
              </a:spcBef>
            </a:pPr>
            <a:r>
              <a:rPr sz="2400" b="1" dirty="0">
                <a:solidFill>
                  <a:srgbClr val="AB610D"/>
                </a:solidFill>
                <a:latin typeface="Times New Roman"/>
                <a:cs typeface="Times New Roman"/>
              </a:rPr>
              <a:t>Department</a:t>
            </a:r>
            <a:r>
              <a:rPr sz="2400" b="1" spc="-85" dirty="0">
                <a:solidFill>
                  <a:srgbClr val="AB610D"/>
                </a:solidFill>
                <a:latin typeface="Times New Roman"/>
                <a:cs typeface="Times New Roman"/>
              </a:rPr>
              <a:t> </a:t>
            </a:r>
            <a:r>
              <a:rPr sz="2400" b="1" dirty="0">
                <a:solidFill>
                  <a:srgbClr val="AB610D"/>
                </a:solidFill>
                <a:latin typeface="Times New Roman"/>
                <a:cs typeface="Times New Roman"/>
              </a:rPr>
              <a:t>of</a:t>
            </a:r>
            <a:r>
              <a:rPr sz="2400" b="1" spc="-80" dirty="0">
                <a:solidFill>
                  <a:srgbClr val="AB610D"/>
                </a:solidFill>
                <a:latin typeface="Times New Roman"/>
                <a:cs typeface="Times New Roman"/>
              </a:rPr>
              <a:t> </a:t>
            </a:r>
            <a:r>
              <a:rPr sz="2400" b="1" dirty="0">
                <a:solidFill>
                  <a:srgbClr val="AB610D"/>
                </a:solidFill>
                <a:latin typeface="Times New Roman"/>
                <a:cs typeface="Times New Roman"/>
              </a:rPr>
              <a:t>Computer</a:t>
            </a:r>
            <a:r>
              <a:rPr sz="2400" b="1" spc="-80" dirty="0">
                <a:solidFill>
                  <a:srgbClr val="AB610D"/>
                </a:solidFill>
                <a:latin typeface="Times New Roman"/>
                <a:cs typeface="Times New Roman"/>
              </a:rPr>
              <a:t> </a:t>
            </a:r>
            <a:r>
              <a:rPr sz="2400" b="1" spc="-10" dirty="0">
                <a:solidFill>
                  <a:srgbClr val="AB610D"/>
                </a:solidFill>
                <a:latin typeface="Times New Roman"/>
                <a:cs typeface="Times New Roman"/>
              </a:rPr>
              <a:t>Engineering</a:t>
            </a:r>
            <a:endParaRPr sz="2400" dirty="0">
              <a:latin typeface="Times New Roman"/>
              <a:cs typeface="Times New Roman"/>
            </a:endParaRPr>
          </a:p>
          <a:p>
            <a:pPr algn="ctr">
              <a:spcBef>
                <a:spcPts val="2640"/>
              </a:spcBef>
            </a:pPr>
            <a:r>
              <a:rPr b="1" dirty="0">
                <a:solidFill>
                  <a:srgbClr val="3E3E3E"/>
                </a:solidFill>
                <a:latin typeface="Times New Roman"/>
                <a:ea typeface="+mn-ea"/>
                <a:cs typeface="Times New Roman"/>
              </a:rPr>
              <a:t>“</a:t>
            </a:r>
            <a:r>
              <a:rPr lang="en-US" sz="2400" b="1" spc="-10" dirty="0">
                <a:latin typeface="Times New Roman" panose="02020603050405020304" pitchFamily="18" charset="0"/>
                <a:cs typeface="Times New Roman" panose="02020603050405020304" pitchFamily="18" charset="0"/>
              </a:rPr>
              <a:t>Smart Sheild : AI </a:t>
            </a:r>
            <a:r>
              <a:rPr lang="en-US" sz="2400" b="1" spc="-10" dirty="0" err="1">
                <a:latin typeface="Times New Roman" panose="02020603050405020304" pitchFamily="18" charset="0"/>
                <a:cs typeface="Times New Roman" panose="02020603050405020304" pitchFamily="18" charset="0"/>
              </a:rPr>
              <a:t>enabeled</a:t>
            </a:r>
            <a:r>
              <a:rPr lang="en-US" sz="2400" b="1" spc="-10" dirty="0">
                <a:latin typeface="Times New Roman" panose="02020603050405020304" pitchFamily="18" charset="0"/>
                <a:cs typeface="Times New Roman" panose="02020603050405020304" pitchFamily="18" charset="0"/>
              </a:rPr>
              <a:t> helmet</a:t>
            </a:r>
            <a:r>
              <a:rPr sz="2100" b="1" spc="-10" dirty="0">
                <a:latin typeface="Times New Roman"/>
                <a:cs typeface="Times New Roman"/>
              </a:rPr>
              <a:t>”</a:t>
            </a:r>
            <a:endParaRPr sz="2100" dirty="0">
              <a:latin typeface="Times New Roman"/>
              <a:cs typeface="Times New Roman"/>
            </a:endParaRPr>
          </a:p>
        </p:txBody>
      </p:sp>
      <p:sp>
        <p:nvSpPr>
          <p:cNvPr id="6" name="object 6"/>
          <p:cNvSpPr txBox="1"/>
          <p:nvPr/>
        </p:nvSpPr>
        <p:spPr>
          <a:xfrm>
            <a:off x="4426711" y="3647313"/>
            <a:ext cx="1934845" cy="345440"/>
          </a:xfrm>
          <a:prstGeom prst="rect">
            <a:avLst/>
          </a:prstGeom>
        </p:spPr>
        <p:txBody>
          <a:bodyPr vert="horz" wrap="square" lIns="0" tIns="12700" rIns="0" bIns="0" rtlCol="0">
            <a:spAutoFit/>
          </a:bodyPr>
          <a:lstStyle/>
          <a:p>
            <a:pPr marL="12700">
              <a:lnSpc>
                <a:spcPct val="100000"/>
              </a:lnSpc>
              <a:spcBef>
                <a:spcPts val="100"/>
              </a:spcBef>
            </a:pPr>
            <a:r>
              <a:rPr sz="2100" b="1" dirty="0">
                <a:latin typeface="Times New Roman"/>
                <a:cs typeface="Times New Roman"/>
              </a:rPr>
              <a:t>Date:</a:t>
            </a:r>
            <a:r>
              <a:rPr sz="2100" b="1" spc="-50" dirty="0">
                <a:latin typeface="Times New Roman"/>
                <a:cs typeface="Times New Roman"/>
              </a:rPr>
              <a:t> </a:t>
            </a:r>
            <a:r>
              <a:rPr sz="2100" b="1" spc="-10" dirty="0">
                <a:latin typeface="Times New Roman"/>
                <a:cs typeface="Times New Roman"/>
              </a:rPr>
              <a:t>10/09/2026</a:t>
            </a:r>
            <a:endParaRPr sz="2100">
              <a:latin typeface="Times New Roman"/>
              <a:cs typeface="Times New Roman"/>
            </a:endParaRPr>
          </a:p>
        </p:txBody>
      </p:sp>
      <p:sp>
        <p:nvSpPr>
          <p:cNvPr id="7" name="object 7"/>
          <p:cNvSpPr txBox="1"/>
          <p:nvPr/>
        </p:nvSpPr>
        <p:spPr>
          <a:xfrm>
            <a:off x="7381493" y="3815588"/>
            <a:ext cx="1765300" cy="1123315"/>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Group</a:t>
            </a:r>
            <a:r>
              <a:rPr sz="1800" b="1" spc="-60" dirty="0">
                <a:latin typeface="Times New Roman"/>
                <a:cs typeface="Times New Roman"/>
              </a:rPr>
              <a:t> </a:t>
            </a:r>
            <a:r>
              <a:rPr sz="1800" b="1" dirty="0">
                <a:latin typeface="Times New Roman"/>
                <a:cs typeface="Times New Roman"/>
              </a:rPr>
              <a:t>members</a:t>
            </a:r>
            <a:r>
              <a:rPr sz="1800" b="1" spc="-55" dirty="0">
                <a:latin typeface="Times New Roman"/>
                <a:cs typeface="Times New Roman"/>
              </a:rPr>
              <a:t> </a:t>
            </a:r>
            <a:r>
              <a:rPr sz="1800" b="1" spc="-50" dirty="0">
                <a:latin typeface="Times New Roman"/>
                <a:cs typeface="Times New Roman"/>
              </a:rPr>
              <a:t>:</a:t>
            </a:r>
            <a:endParaRPr sz="1800" dirty="0">
              <a:latin typeface="Times New Roman"/>
              <a:cs typeface="Times New Roman"/>
            </a:endParaRPr>
          </a:p>
          <a:p>
            <a:pPr marL="241300" indent="-228600">
              <a:lnSpc>
                <a:spcPct val="100000"/>
              </a:lnSpc>
              <a:buAutoNum type="arabicPeriod"/>
              <a:tabLst>
                <a:tab pos="241300" algn="l"/>
              </a:tabLst>
            </a:pPr>
            <a:r>
              <a:rPr lang="en-US" b="1" dirty="0" err="1">
                <a:latin typeface="Times New Roman"/>
                <a:cs typeface="Times New Roman"/>
              </a:rPr>
              <a:t>Vinit</a:t>
            </a:r>
            <a:r>
              <a:rPr lang="en-US" b="1" dirty="0">
                <a:latin typeface="Times New Roman"/>
                <a:cs typeface="Times New Roman"/>
              </a:rPr>
              <a:t> </a:t>
            </a:r>
            <a:r>
              <a:rPr lang="en-US" b="1" dirty="0" err="1">
                <a:latin typeface="Times New Roman"/>
                <a:cs typeface="Times New Roman"/>
              </a:rPr>
              <a:t>Patil</a:t>
            </a:r>
            <a:endParaRPr sz="1800" dirty="0">
              <a:latin typeface="Times New Roman"/>
              <a:cs typeface="Times New Roman"/>
            </a:endParaRPr>
          </a:p>
          <a:p>
            <a:pPr marL="241300" indent="-228600">
              <a:lnSpc>
                <a:spcPct val="100000"/>
              </a:lnSpc>
              <a:buAutoNum type="arabicPeriod"/>
              <a:tabLst>
                <a:tab pos="241300" algn="l"/>
              </a:tabLst>
            </a:pPr>
            <a:r>
              <a:rPr lang="en-US" b="1" dirty="0" err="1">
                <a:latin typeface="Times New Roman"/>
                <a:cs typeface="Times New Roman"/>
              </a:rPr>
              <a:t>Siddhsesh</a:t>
            </a:r>
            <a:r>
              <a:rPr lang="en-US" b="1" dirty="0">
                <a:latin typeface="Times New Roman"/>
                <a:cs typeface="Times New Roman"/>
              </a:rPr>
              <a:t> </a:t>
            </a:r>
            <a:r>
              <a:rPr lang="en-US" b="1" dirty="0" err="1">
                <a:latin typeface="Times New Roman"/>
                <a:cs typeface="Times New Roman"/>
              </a:rPr>
              <a:t>Patil</a:t>
            </a:r>
            <a:endParaRPr sz="1800" dirty="0">
              <a:latin typeface="Times New Roman"/>
              <a:cs typeface="Times New Roman"/>
            </a:endParaRPr>
          </a:p>
          <a:p>
            <a:pPr marL="241300" indent="-228600">
              <a:lnSpc>
                <a:spcPct val="100000"/>
              </a:lnSpc>
              <a:buAutoNum type="arabicPeriod"/>
              <a:tabLst>
                <a:tab pos="241300" algn="l"/>
              </a:tabLst>
            </a:pPr>
            <a:r>
              <a:rPr lang="en-US" b="1" dirty="0">
                <a:latin typeface="Times New Roman"/>
                <a:cs typeface="Times New Roman"/>
              </a:rPr>
              <a:t>Pritesh </a:t>
            </a:r>
            <a:r>
              <a:rPr lang="en-US" b="1" dirty="0" err="1">
                <a:latin typeface="Times New Roman"/>
                <a:cs typeface="Times New Roman"/>
              </a:rPr>
              <a:t>Patil</a:t>
            </a:r>
            <a:r>
              <a:rPr lang="en-US" b="1" dirty="0">
                <a:latin typeface="Times New Roman"/>
                <a:cs typeface="Times New Roman"/>
              </a:rPr>
              <a:t> </a:t>
            </a:r>
            <a:endParaRPr sz="1800" dirty="0">
              <a:latin typeface="Times New Roman"/>
              <a:cs typeface="Times New Roman"/>
            </a:endParaRPr>
          </a:p>
        </p:txBody>
      </p:sp>
      <p:pic>
        <p:nvPicPr>
          <p:cNvPr id="8" name="object 8" descr="Mumbai University: Colleges, Admission 2021, Courses, Cut Off, Fees,  Scholarships"/>
          <p:cNvPicPr/>
          <p:nvPr/>
        </p:nvPicPr>
        <p:blipFill>
          <a:blip r:embed="rId2" cstate="print"/>
          <a:stretch>
            <a:fillRect/>
          </a:stretch>
        </p:blipFill>
        <p:spPr>
          <a:xfrm>
            <a:off x="35011" y="76200"/>
            <a:ext cx="803186" cy="762000"/>
          </a:xfrm>
          <a:prstGeom prst="rect">
            <a:avLst/>
          </a:prstGeom>
        </p:spPr>
      </p:pic>
      <p:pic>
        <p:nvPicPr>
          <p:cNvPr id="9" name="object 9"/>
          <p:cNvPicPr/>
          <p:nvPr/>
        </p:nvPicPr>
        <p:blipFill>
          <a:blip r:embed="rId3" cstate="print"/>
          <a:stretch>
            <a:fillRect/>
          </a:stretch>
        </p:blipFill>
        <p:spPr>
          <a:xfrm>
            <a:off x="9516913" y="62301"/>
            <a:ext cx="1205459" cy="1070489"/>
          </a:xfrm>
          <a:prstGeom prst="rect">
            <a:avLst/>
          </a:prstGeom>
        </p:spPr>
      </p:pic>
      <p:pic>
        <p:nvPicPr>
          <p:cNvPr id="10" name="object 10"/>
          <p:cNvPicPr/>
          <p:nvPr/>
        </p:nvPicPr>
        <p:blipFill>
          <a:blip r:embed="rId4" cstate="print"/>
          <a:stretch>
            <a:fillRect/>
          </a:stretch>
        </p:blipFill>
        <p:spPr>
          <a:xfrm>
            <a:off x="959177" y="8699"/>
            <a:ext cx="733428" cy="896937"/>
          </a:xfrm>
          <a:prstGeom prst="rect">
            <a:avLst/>
          </a:prstGeom>
        </p:spPr>
      </p:pic>
      <p:sp>
        <p:nvSpPr>
          <p:cNvPr id="11" name="object 11"/>
          <p:cNvSpPr txBox="1"/>
          <p:nvPr/>
        </p:nvSpPr>
        <p:spPr>
          <a:xfrm>
            <a:off x="4313301" y="215011"/>
            <a:ext cx="2620010" cy="269240"/>
          </a:xfrm>
          <a:prstGeom prst="rect">
            <a:avLst/>
          </a:prstGeom>
        </p:spPr>
        <p:txBody>
          <a:bodyPr vert="horz" wrap="square" lIns="0" tIns="12065" rIns="0" bIns="0" rtlCol="0">
            <a:spAutoFit/>
          </a:bodyPr>
          <a:lstStyle/>
          <a:p>
            <a:pPr marL="12700">
              <a:lnSpc>
                <a:spcPct val="100000"/>
              </a:lnSpc>
              <a:spcBef>
                <a:spcPts val="95"/>
              </a:spcBef>
            </a:pPr>
            <a:r>
              <a:rPr sz="1600" b="1" dirty="0">
                <a:solidFill>
                  <a:srgbClr val="AB610D"/>
                </a:solidFill>
                <a:latin typeface="Times New Roman"/>
                <a:cs typeface="Times New Roman"/>
              </a:rPr>
              <a:t>Mahatma</a:t>
            </a:r>
            <a:r>
              <a:rPr sz="1600" b="1" spc="-60" dirty="0">
                <a:solidFill>
                  <a:srgbClr val="AB610D"/>
                </a:solidFill>
                <a:latin typeface="Times New Roman"/>
                <a:cs typeface="Times New Roman"/>
              </a:rPr>
              <a:t> </a:t>
            </a:r>
            <a:r>
              <a:rPr sz="1600" b="1" dirty="0">
                <a:solidFill>
                  <a:srgbClr val="AB610D"/>
                </a:solidFill>
                <a:latin typeface="Times New Roman"/>
                <a:cs typeface="Times New Roman"/>
              </a:rPr>
              <a:t>Education</a:t>
            </a:r>
            <a:r>
              <a:rPr sz="1600" b="1" spc="-90" dirty="0">
                <a:solidFill>
                  <a:srgbClr val="AB610D"/>
                </a:solidFill>
                <a:latin typeface="Times New Roman"/>
                <a:cs typeface="Times New Roman"/>
              </a:rPr>
              <a:t> </a:t>
            </a:r>
            <a:r>
              <a:rPr sz="1600" b="1" spc="-10" dirty="0">
                <a:solidFill>
                  <a:srgbClr val="AB610D"/>
                </a:solidFill>
                <a:latin typeface="Times New Roman"/>
                <a:cs typeface="Times New Roman"/>
              </a:rPr>
              <a:t>Society's</a:t>
            </a:r>
            <a:endParaRPr sz="1600">
              <a:latin typeface="Times New Roman"/>
              <a:cs typeface="Times New Roman"/>
            </a:endParaRPr>
          </a:p>
        </p:txBody>
      </p:sp>
      <p:sp>
        <p:nvSpPr>
          <p:cNvPr id="12" name="object 12" descr="$PPTXTitle"/>
          <p:cNvSpPr txBox="1">
            <a:spLocks noGrp="1"/>
          </p:cNvSpPr>
          <p:nvPr>
            <p:ph type="title"/>
          </p:nvPr>
        </p:nvSpPr>
        <p:spPr>
          <a:xfrm>
            <a:off x="1879219" y="452754"/>
            <a:ext cx="7486650" cy="878840"/>
          </a:xfrm>
          <a:prstGeom prst="rect">
            <a:avLst/>
          </a:prstGeom>
        </p:spPr>
        <p:txBody>
          <a:bodyPr vert="horz" wrap="square" lIns="0" tIns="12065" rIns="0" bIns="0" rtlCol="0">
            <a:spAutoFit/>
          </a:bodyPr>
          <a:lstStyle/>
          <a:p>
            <a:pPr marL="2656840" marR="5080" indent="-2644775">
              <a:lnSpc>
                <a:spcPct val="100000"/>
              </a:lnSpc>
              <a:spcBef>
                <a:spcPts val="95"/>
              </a:spcBef>
            </a:pPr>
            <a:r>
              <a:rPr sz="2800" dirty="0">
                <a:solidFill>
                  <a:srgbClr val="AB610D"/>
                </a:solidFill>
              </a:rPr>
              <a:t>Pillai</a:t>
            </a:r>
            <a:r>
              <a:rPr sz="2800" spc="-65" dirty="0">
                <a:solidFill>
                  <a:srgbClr val="AB610D"/>
                </a:solidFill>
              </a:rPr>
              <a:t> </a:t>
            </a:r>
            <a:r>
              <a:rPr sz="2800" dirty="0">
                <a:solidFill>
                  <a:srgbClr val="AB610D"/>
                </a:solidFill>
              </a:rPr>
              <a:t>HOC</a:t>
            </a:r>
            <a:r>
              <a:rPr sz="2800" spc="-50" dirty="0">
                <a:solidFill>
                  <a:srgbClr val="AB610D"/>
                </a:solidFill>
              </a:rPr>
              <a:t> </a:t>
            </a:r>
            <a:r>
              <a:rPr sz="2800" dirty="0">
                <a:solidFill>
                  <a:srgbClr val="AB610D"/>
                </a:solidFill>
              </a:rPr>
              <a:t>College</a:t>
            </a:r>
            <a:r>
              <a:rPr sz="2800" spc="-75" dirty="0">
                <a:solidFill>
                  <a:srgbClr val="AB610D"/>
                </a:solidFill>
              </a:rPr>
              <a:t> </a:t>
            </a:r>
            <a:r>
              <a:rPr sz="2800" dirty="0">
                <a:solidFill>
                  <a:srgbClr val="AB610D"/>
                </a:solidFill>
              </a:rPr>
              <a:t>of</a:t>
            </a:r>
            <a:r>
              <a:rPr sz="2800" spc="-45" dirty="0">
                <a:solidFill>
                  <a:srgbClr val="AB610D"/>
                </a:solidFill>
              </a:rPr>
              <a:t> </a:t>
            </a:r>
            <a:r>
              <a:rPr sz="2800" dirty="0">
                <a:solidFill>
                  <a:srgbClr val="AB610D"/>
                </a:solidFill>
              </a:rPr>
              <a:t>Engineering</a:t>
            </a:r>
            <a:r>
              <a:rPr sz="2800" spc="-45" dirty="0">
                <a:solidFill>
                  <a:srgbClr val="AB610D"/>
                </a:solidFill>
              </a:rPr>
              <a:t> </a:t>
            </a:r>
            <a:r>
              <a:rPr sz="2800" dirty="0">
                <a:solidFill>
                  <a:srgbClr val="AB610D"/>
                </a:solidFill>
              </a:rPr>
              <a:t>&amp;</a:t>
            </a:r>
            <a:r>
              <a:rPr sz="2800" spc="-55" dirty="0">
                <a:solidFill>
                  <a:srgbClr val="AB610D"/>
                </a:solidFill>
              </a:rPr>
              <a:t> </a:t>
            </a:r>
            <a:r>
              <a:rPr sz="2800" spc="-10" dirty="0">
                <a:solidFill>
                  <a:srgbClr val="AB610D"/>
                </a:solidFill>
              </a:rPr>
              <a:t>Technology (Autonomous)</a:t>
            </a:r>
            <a:endParaRPr sz="2800"/>
          </a:p>
        </p:txBody>
      </p:sp>
      <p:sp>
        <p:nvSpPr>
          <p:cNvPr id="13" name="object 13"/>
          <p:cNvSpPr txBox="1"/>
          <p:nvPr/>
        </p:nvSpPr>
        <p:spPr>
          <a:xfrm>
            <a:off x="936447" y="4056633"/>
            <a:ext cx="2280920" cy="574040"/>
          </a:xfrm>
          <a:prstGeom prst="rect">
            <a:avLst/>
          </a:prstGeom>
        </p:spPr>
        <p:txBody>
          <a:bodyPr vert="horz" wrap="square" lIns="0" tIns="12700" rIns="0" bIns="0" rtlCol="0">
            <a:spAutoFit/>
          </a:bodyPr>
          <a:lstStyle/>
          <a:p>
            <a:pPr marL="12700" marR="5080">
              <a:lnSpc>
                <a:spcPct val="100000"/>
              </a:lnSpc>
              <a:spcBef>
                <a:spcPts val="100"/>
              </a:spcBef>
            </a:pPr>
            <a:r>
              <a:rPr sz="1800" b="1" dirty="0">
                <a:latin typeface="Times New Roman"/>
                <a:cs typeface="Times New Roman"/>
              </a:rPr>
              <a:t>Under</a:t>
            </a:r>
            <a:r>
              <a:rPr sz="1800" b="1" spc="-40" dirty="0">
                <a:latin typeface="Times New Roman"/>
                <a:cs typeface="Times New Roman"/>
              </a:rPr>
              <a:t> </a:t>
            </a:r>
            <a:r>
              <a:rPr sz="1800" b="1" dirty="0">
                <a:latin typeface="Times New Roman"/>
                <a:cs typeface="Times New Roman"/>
              </a:rPr>
              <a:t>the</a:t>
            </a:r>
            <a:r>
              <a:rPr sz="1800" b="1" spc="-50" dirty="0">
                <a:latin typeface="Times New Roman"/>
                <a:cs typeface="Times New Roman"/>
              </a:rPr>
              <a:t> </a:t>
            </a:r>
            <a:r>
              <a:rPr sz="1800" b="1" dirty="0">
                <a:latin typeface="Times New Roman"/>
                <a:cs typeface="Times New Roman"/>
              </a:rPr>
              <a:t>guidance</a:t>
            </a:r>
            <a:r>
              <a:rPr sz="1800" b="1" spc="-35" dirty="0">
                <a:latin typeface="Times New Roman"/>
                <a:cs typeface="Times New Roman"/>
              </a:rPr>
              <a:t> </a:t>
            </a:r>
            <a:r>
              <a:rPr sz="1800" b="1" spc="-50" dirty="0">
                <a:latin typeface="Times New Roman"/>
                <a:cs typeface="Times New Roman"/>
              </a:rPr>
              <a:t>: </a:t>
            </a:r>
            <a:r>
              <a:rPr sz="1800" b="1" dirty="0">
                <a:latin typeface="Times New Roman"/>
                <a:cs typeface="Times New Roman"/>
              </a:rPr>
              <a:t>Ms.</a:t>
            </a:r>
            <a:r>
              <a:rPr sz="1800" b="1" spc="-55" dirty="0">
                <a:latin typeface="Times New Roman"/>
                <a:cs typeface="Times New Roman"/>
              </a:rPr>
              <a:t> </a:t>
            </a:r>
            <a:r>
              <a:rPr lang="en-US" b="1" dirty="0" err="1">
                <a:latin typeface="Times New Roman"/>
                <a:cs typeface="Times New Roman"/>
              </a:rPr>
              <a:t>Suchita</a:t>
            </a:r>
            <a:r>
              <a:rPr lang="en-US" b="1" dirty="0">
                <a:latin typeface="Times New Roman"/>
                <a:cs typeface="Times New Roman"/>
              </a:rPr>
              <a:t> </a:t>
            </a:r>
            <a:r>
              <a:rPr lang="en-US" b="1" dirty="0" err="1">
                <a:latin typeface="Times New Roman"/>
                <a:cs typeface="Times New Roman"/>
              </a:rPr>
              <a:t>Walke</a:t>
            </a:r>
            <a:r>
              <a:rPr lang="en-US" b="1" dirty="0">
                <a:latin typeface="Times New Roman"/>
                <a:cs typeface="Times New Roman"/>
              </a:rPr>
              <a:t> </a:t>
            </a:r>
            <a:endParaRPr sz="18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8060" y="1385950"/>
            <a:ext cx="9274175" cy="477520"/>
            <a:chOff x="938060" y="1385950"/>
            <a:chExt cx="9274175" cy="477520"/>
          </a:xfrm>
        </p:grpSpPr>
        <p:sp>
          <p:nvSpPr>
            <p:cNvPr id="3" name="object 3"/>
            <p:cNvSpPr/>
            <p:nvPr/>
          </p:nvSpPr>
          <p:spPr>
            <a:xfrm>
              <a:off x="1074178" y="1622043"/>
              <a:ext cx="8970645" cy="0"/>
            </a:xfrm>
            <a:custGeom>
              <a:avLst/>
              <a:gdLst/>
              <a:ahLst/>
              <a:cxnLst/>
              <a:rect l="l" t="t" r="r" b="b"/>
              <a:pathLst>
                <a:path w="8970645">
                  <a:moveTo>
                    <a:pt x="0" y="0"/>
                  </a:moveTo>
                  <a:lnTo>
                    <a:pt x="8970251" y="0"/>
                  </a:lnTo>
                </a:path>
              </a:pathLst>
            </a:custGeom>
            <a:ln w="9525">
              <a:solidFill>
                <a:srgbClr val="7E7E7E"/>
              </a:solidFill>
            </a:ln>
          </p:spPr>
          <p:txBody>
            <a:bodyPr wrap="square" lIns="0" tIns="0" rIns="0" bIns="0" rtlCol="0"/>
            <a:lstStyle/>
            <a:p>
              <a:endParaRPr/>
            </a:p>
          </p:txBody>
        </p:sp>
        <p:pic>
          <p:nvPicPr>
            <p:cNvPr id="4" name="object 4"/>
            <p:cNvPicPr/>
            <p:nvPr/>
          </p:nvPicPr>
          <p:blipFill>
            <a:blip r:embed="rId2" cstate="print"/>
            <a:stretch>
              <a:fillRect/>
            </a:stretch>
          </p:blipFill>
          <p:spPr>
            <a:xfrm>
              <a:off x="938060" y="1385950"/>
              <a:ext cx="9273755" cy="477012"/>
            </a:xfrm>
            <a:prstGeom prst="rect">
              <a:avLst/>
            </a:prstGeom>
          </p:spPr>
        </p:pic>
      </p:grpSp>
      <p:sp>
        <p:nvSpPr>
          <p:cNvPr id="5" name="object 5" descr="$PPTXTitle"/>
          <p:cNvSpPr txBox="1">
            <a:spLocks noGrp="1"/>
          </p:cNvSpPr>
          <p:nvPr>
            <p:ph type="title"/>
          </p:nvPr>
        </p:nvSpPr>
        <p:spPr>
          <a:prstGeom prst="rect">
            <a:avLst/>
          </a:prstGeom>
        </p:spPr>
        <p:txBody>
          <a:bodyPr vert="horz" wrap="square" lIns="0" tIns="458038" rIns="0" bIns="0" rtlCol="0">
            <a:spAutoFit/>
          </a:bodyPr>
          <a:lstStyle/>
          <a:p>
            <a:pPr marL="2896235">
              <a:lnSpc>
                <a:spcPct val="100000"/>
              </a:lnSpc>
              <a:spcBef>
                <a:spcPts val="105"/>
              </a:spcBef>
            </a:pPr>
            <a:r>
              <a:rPr spc="-10" dirty="0"/>
              <a:t>Introduction</a:t>
            </a:r>
          </a:p>
        </p:txBody>
      </p:sp>
      <p:sp>
        <p:nvSpPr>
          <p:cNvPr id="7" name="object 7"/>
          <p:cNvSpPr txBox="1">
            <a:spLocks noGrp="1"/>
          </p:cNvSpPr>
          <p:nvPr>
            <p:ph type="ftr" sz="quarter" idx="5"/>
          </p:nvPr>
        </p:nvSpPr>
        <p:spPr>
          <a:xfrm>
            <a:off x="403352" y="5983538"/>
            <a:ext cx="5957366" cy="307674"/>
          </a:xfrm>
          <a:prstGeom prst="rect">
            <a:avLst/>
          </a:prstGeom>
        </p:spPr>
        <p:txBody>
          <a:bodyPr vert="horz" wrap="square" lIns="0" tIns="101498" rIns="0" bIns="0" rtlCol="0">
            <a:spAutoFit/>
          </a:bodyPr>
          <a:lstStyle/>
          <a:p>
            <a:pPr marL="327025">
              <a:lnSpc>
                <a:spcPts val="1630"/>
              </a:lnSpc>
            </a:pPr>
            <a:r>
              <a:rPr lang="en-US" spc="-10" dirty="0"/>
              <a:t>Smart </a:t>
            </a:r>
            <a:r>
              <a:rPr lang="en-US" spc="-10" dirty="0" err="1"/>
              <a:t>Sheild</a:t>
            </a:r>
            <a:r>
              <a:rPr lang="en-US" spc="-10" dirty="0"/>
              <a:t>  AI </a:t>
            </a:r>
            <a:r>
              <a:rPr lang="en-US" spc="-10" dirty="0" err="1"/>
              <a:t>enabeled</a:t>
            </a:r>
            <a:r>
              <a:rPr lang="en-US" spc="-10" dirty="0"/>
              <a:t> helmet </a:t>
            </a:r>
            <a:endParaRPr spc="-10" dirty="0"/>
          </a:p>
        </p:txBody>
      </p:sp>
      <p:sp>
        <p:nvSpPr>
          <p:cNvPr id="6" name="object 6"/>
          <p:cNvSpPr txBox="1"/>
          <p:nvPr/>
        </p:nvSpPr>
        <p:spPr>
          <a:xfrm>
            <a:off x="938060" y="1858137"/>
            <a:ext cx="9330804" cy="3364383"/>
          </a:xfrm>
          <a:prstGeom prst="rect">
            <a:avLst/>
          </a:prstGeom>
        </p:spPr>
        <p:txBody>
          <a:bodyPr vert="horz" wrap="square" lIns="0" tIns="40005" rIns="0" bIns="0" rtlCol="0">
            <a:spAutoFit/>
          </a:bodyPr>
          <a:lstStyle/>
          <a:p>
            <a:pPr algn="just"/>
            <a:r>
              <a:rPr lang="en-IN" dirty="0">
                <a:latin typeface="Times New Roman" panose="02020603050405020304" pitchFamily="18" charset="0"/>
                <a:cs typeface="Times New Roman" panose="02020603050405020304" pitchFamily="18" charset="0"/>
              </a:rPr>
              <a:t>Road accidents caused by not wearing helmets, riding under the influence of alcohol, and rider fatigue remain major safety concerns. This project presents a </a:t>
            </a:r>
            <a:r>
              <a:rPr lang="en-IN" b="1" dirty="0">
                <a:latin typeface="Times New Roman" panose="02020603050405020304" pitchFamily="18" charset="0"/>
                <a:cs typeface="Times New Roman" panose="02020603050405020304" pitchFamily="18" charset="0"/>
              </a:rPr>
              <a:t>Smart Helmet System using Arduino</a:t>
            </a:r>
            <a:r>
              <a:rPr lang="en-IN" dirty="0">
                <a:latin typeface="Times New Roman" panose="02020603050405020304" pitchFamily="18" charset="0"/>
                <a:cs typeface="Times New Roman" panose="02020603050405020304" pitchFamily="18" charset="0"/>
              </a:rPr>
              <a:t> that enhances rider safety by integrating multiple sensors with wireless communication. The helmet is equipped with an IR sensor to detect whether the helmet is being worn, an MQ-3 alcohol sensor to detect alcohol consumption, and another IR sensor to monitor eye closure for drowsiness detection. The collected data is transmitted wirelessly to the motorcycle using RF communication. The bike's ignition is enabled only when the rider is wearing the helmet and no alcohol is detected. If signs of drowsiness are identified, the system alerts the rider using a buzzer. Additionally, the system includes a theft detection feature that activates an alarm when communication between the helmet and the motorcycle is interrupted. This low-cost, reliable, and user-friendly solution demonstrates how embedded systems and </a:t>
            </a:r>
            <a:r>
              <a:rPr lang="en-IN" dirty="0" err="1">
                <a:latin typeface="Times New Roman" panose="02020603050405020304" pitchFamily="18" charset="0"/>
                <a:cs typeface="Times New Roman" panose="02020603050405020304" pitchFamily="18" charset="0"/>
              </a:rPr>
              <a:t>IoT</a:t>
            </a:r>
            <a:r>
              <a:rPr lang="en-IN" dirty="0">
                <a:latin typeface="Times New Roman" panose="02020603050405020304" pitchFamily="18" charset="0"/>
                <a:cs typeface="Times New Roman" panose="02020603050405020304" pitchFamily="18" charset="0"/>
              </a:rPr>
              <a:t> concepts can be applied to improve road safety and reduce the risk of accidents.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02514" rIns="0" bIns="0" rtlCol="0">
            <a:spAutoFit/>
          </a:bodyPr>
          <a:lstStyle/>
          <a:p>
            <a:pPr marL="3126740">
              <a:lnSpc>
                <a:spcPct val="100000"/>
              </a:lnSpc>
              <a:spcBef>
                <a:spcPts val="105"/>
              </a:spcBef>
            </a:pPr>
            <a:r>
              <a:rPr spc="-10" dirty="0"/>
              <a:t>Motivation</a:t>
            </a:r>
          </a:p>
        </p:txBody>
      </p:sp>
      <p:sp>
        <p:nvSpPr>
          <p:cNvPr id="4" name="object 4"/>
          <p:cNvSpPr txBox="1">
            <a:spLocks noGrp="1"/>
          </p:cNvSpPr>
          <p:nvPr>
            <p:ph type="ftr" sz="quarter" idx="5"/>
          </p:nvPr>
        </p:nvSpPr>
        <p:spPr>
          <a:xfrm>
            <a:off x="403352" y="5983538"/>
            <a:ext cx="5957366" cy="307674"/>
          </a:xfrm>
          <a:prstGeom prst="rect">
            <a:avLst/>
          </a:prstGeom>
        </p:spPr>
        <p:txBody>
          <a:bodyPr vert="horz" wrap="square" lIns="0" tIns="101498" rIns="0" bIns="0" rtlCol="0">
            <a:spAutoFit/>
          </a:bodyPr>
          <a:lstStyle/>
          <a:p>
            <a:pPr marL="327025">
              <a:lnSpc>
                <a:spcPts val="1630"/>
              </a:lnSpc>
            </a:pPr>
            <a:r>
              <a:rPr lang="en-US" spc="-10" dirty="0"/>
              <a:t>Smart </a:t>
            </a:r>
            <a:r>
              <a:rPr lang="en-US" spc="-10" dirty="0" err="1"/>
              <a:t>Sheild</a:t>
            </a:r>
            <a:r>
              <a:rPr lang="en-US" spc="-10" dirty="0"/>
              <a:t>  AI </a:t>
            </a:r>
            <a:r>
              <a:rPr lang="en-US" spc="-10" dirty="0" err="1"/>
              <a:t>enabeled</a:t>
            </a:r>
            <a:r>
              <a:rPr lang="en-US" spc="-10" dirty="0"/>
              <a:t> helmet </a:t>
            </a:r>
          </a:p>
        </p:txBody>
      </p:sp>
      <p:sp>
        <p:nvSpPr>
          <p:cNvPr id="3" name="object 3"/>
          <p:cNvSpPr txBox="1"/>
          <p:nvPr/>
        </p:nvSpPr>
        <p:spPr>
          <a:xfrm>
            <a:off x="914400" y="1331594"/>
            <a:ext cx="9004935" cy="1993494"/>
          </a:xfrm>
          <a:prstGeom prst="rect">
            <a:avLst/>
          </a:prstGeom>
        </p:spPr>
        <p:txBody>
          <a:bodyPr vert="horz" wrap="square" lIns="0" tIns="43815" rIns="0" bIns="0" rtlCol="0">
            <a:spAutoFit/>
          </a:bodyPr>
          <a:lstStyle/>
          <a:p>
            <a:pPr marL="12700" marR="7620" algn="just">
              <a:lnSpc>
                <a:spcPts val="1939"/>
              </a:lnSpc>
              <a:spcBef>
                <a:spcPts val="345"/>
              </a:spcBef>
              <a:tabLst>
                <a:tab pos="1217930" algn="l"/>
                <a:tab pos="2169160" algn="l"/>
                <a:tab pos="2536190" algn="l"/>
                <a:tab pos="3333750" algn="l"/>
                <a:tab pos="4879340" algn="l"/>
                <a:tab pos="5575300" algn="l"/>
                <a:tab pos="6223000" algn="l"/>
                <a:tab pos="6831965" algn="l"/>
                <a:tab pos="7770495" algn="l"/>
              </a:tabLst>
            </a:pPr>
            <a:r>
              <a:rPr lang="en-US" dirty="0">
                <a:latin typeface="Times New Roman" panose="02020603050405020304" pitchFamily="18" charset="0"/>
                <a:cs typeface="Times New Roman" panose="02020603050405020304" pitchFamily="18" charset="0"/>
              </a:rPr>
              <a:t>Increasing road accidents: Motorcycle riders face safety risks due to helmet non-compliance, alcohol consumption, drowsiness, and delayed emergency </a:t>
            </a:r>
            <a:r>
              <a:rPr lang="en-US" dirty="0" err="1">
                <a:latin typeface="Times New Roman" panose="02020603050405020304" pitchFamily="18" charset="0"/>
                <a:cs typeface="Times New Roman" panose="02020603050405020304" pitchFamily="18" charset="0"/>
              </a:rPr>
              <a:t>assistance.Lack</a:t>
            </a:r>
            <a:r>
              <a:rPr lang="en-US" dirty="0">
                <a:latin typeface="Times New Roman" panose="02020603050405020304" pitchFamily="18" charset="0"/>
                <a:cs typeface="Times New Roman" panose="02020603050405020304" pitchFamily="18" charset="0"/>
              </a:rPr>
              <a:t> of active safety monitoring: Traditional helmets mainly provide physical protection but cannot monitor the rider’s condition or riding </a:t>
            </a:r>
            <a:r>
              <a:rPr lang="en-US" dirty="0" err="1">
                <a:latin typeface="Times New Roman" panose="02020603050405020304" pitchFamily="18" charset="0"/>
                <a:cs typeface="Times New Roman" panose="02020603050405020304" pitchFamily="18" charset="0"/>
              </a:rPr>
              <a:t>behavior.Helmet</a:t>
            </a:r>
            <a:r>
              <a:rPr lang="en-US" dirty="0">
                <a:latin typeface="Times New Roman" panose="02020603050405020304" pitchFamily="18" charset="0"/>
                <a:cs typeface="Times New Roman" panose="02020603050405020304" pitchFamily="18" charset="0"/>
              </a:rPr>
              <a:t> non-compliance: Riders may start motorcycles without properly wearing a helmet, increasing the risk of serious injury.AI and IoT-based future scope: Intelligent monitoring can enable personalized safety alerts, accident detection, and real-time communication for </a:t>
            </a:r>
            <a:r>
              <a:rPr lang="en-US" dirty="0" err="1">
                <a:latin typeface="Times New Roman" panose="02020603050405020304" pitchFamily="18" charset="0"/>
                <a:cs typeface="Times New Roman" panose="02020603050405020304" pitchFamily="18" charset="0"/>
              </a:rPr>
              <a:t>improvedDrowsy</a:t>
            </a:r>
            <a:r>
              <a:rPr lang="en-US" dirty="0">
                <a:latin typeface="Times New Roman" panose="02020603050405020304" pitchFamily="18" charset="0"/>
                <a:cs typeface="Times New Roman" panose="02020603050405020304" pitchFamily="18" charset="0"/>
              </a:rPr>
              <a:t> riding: Rider fatigue and prolonged eye closure can reduce alertness and increase the possibility of accidents</a:t>
            </a: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858" y="5974079"/>
            <a:ext cx="10970260" cy="426720"/>
          </a:xfrm>
          <a:custGeom>
            <a:avLst/>
            <a:gdLst/>
            <a:ahLst/>
            <a:cxnLst/>
            <a:rect l="l" t="t" r="r" b="b"/>
            <a:pathLst>
              <a:path w="10970260" h="426720">
                <a:moveTo>
                  <a:pt x="10969879" y="0"/>
                </a:moveTo>
                <a:lnTo>
                  <a:pt x="0" y="0"/>
                </a:lnTo>
                <a:lnTo>
                  <a:pt x="0" y="426719"/>
                </a:lnTo>
                <a:lnTo>
                  <a:pt x="10969879" y="426719"/>
                </a:lnTo>
                <a:lnTo>
                  <a:pt x="10969879" y="0"/>
                </a:lnTo>
                <a:close/>
              </a:path>
            </a:pathLst>
          </a:custGeom>
          <a:solidFill>
            <a:srgbClr val="BC572C"/>
          </a:solidFill>
        </p:spPr>
        <p:txBody>
          <a:bodyPr wrap="square" lIns="0" tIns="0" rIns="0" bIns="0" rtlCol="0"/>
          <a:lstStyle/>
          <a:p>
            <a:endParaRPr/>
          </a:p>
        </p:txBody>
      </p:sp>
      <p:sp>
        <p:nvSpPr>
          <p:cNvPr id="5" name="object 5"/>
          <p:cNvSpPr txBox="1">
            <a:spLocks noGrp="1"/>
          </p:cNvSpPr>
          <p:nvPr>
            <p:ph type="ftr" sz="quarter" idx="5"/>
          </p:nvPr>
        </p:nvSpPr>
        <p:spPr>
          <a:xfrm>
            <a:off x="403352" y="5983538"/>
            <a:ext cx="5957366" cy="266124"/>
          </a:xfrm>
          <a:prstGeom prst="rect">
            <a:avLst/>
          </a:prstGeom>
        </p:spPr>
        <p:txBody>
          <a:bodyPr vert="horz" wrap="square" lIns="0" tIns="60350" rIns="0" bIns="0" rtlCol="0">
            <a:spAutoFit/>
          </a:bodyPr>
          <a:lstStyle/>
          <a:p>
            <a:pPr marL="327025">
              <a:lnSpc>
                <a:spcPts val="1630"/>
              </a:lnSpc>
            </a:pPr>
            <a:r>
              <a:rPr lang="en-US" spc="-10" dirty="0"/>
              <a:t>Smart </a:t>
            </a:r>
            <a:r>
              <a:rPr lang="en-US" spc="-10" dirty="0" err="1"/>
              <a:t>Sheild</a:t>
            </a:r>
            <a:r>
              <a:rPr lang="en-US" spc="-10" dirty="0"/>
              <a:t>  AI </a:t>
            </a:r>
            <a:r>
              <a:rPr lang="en-US" spc="-10" dirty="0" err="1"/>
              <a:t>enabeled</a:t>
            </a:r>
            <a:r>
              <a:rPr lang="en-US" spc="-10" dirty="0"/>
              <a:t> helmet </a:t>
            </a:r>
          </a:p>
        </p:txBody>
      </p:sp>
      <p:sp>
        <p:nvSpPr>
          <p:cNvPr id="4" name="object 4" descr="$PPTXTitle"/>
          <p:cNvSpPr txBox="1">
            <a:spLocks noGrp="1"/>
          </p:cNvSpPr>
          <p:nvPr>
            <p:ph type="title"/>
          </p:nvPr>
        </p:nvSpPr>
        <p:spPr>
          <a:xfrm>
            <a:off x="2136139" y="46482"/>
            <a:ext cx="6712584" cy="756920"/>
          </a:xfrm>
          <a:prstGeom prst="rect">
            <a:avLst/>
          </a:prstGeom>
        </p:spPr>
        <p:txBody>
          <a:bodyPr vert="horz" wrap="square" lIns="0" tIns="12700" rIns="0" bIns="0" rtlCol="0">
            <a:spAutoFit/>
          </a:bodyPr>
          <a:lstStyle/>
          <a:p>
            <a:pPr marL="12700">
              <a:lnSpc>
                <a:spcPct val="100000"/>
              </a:lnSpc>
              <a:spcBef>
                <a:spcPts val="100"/>
              </a:spcBef>
            </a:pPr>
            <a:r>
              <a:rPr sz="4800" dirty="0"/>
              <a:t>LITERATURE</a:t>
            </a:r>
            <a:r>
              <a:rPr sz="4800" spc="-45" dirty="0"/>
              <a:t> </a:t>
            </a:r>
            <a:r>
              <a:rPr sz="4800" spc="-10" dirty="0"/>
              <a:t>SURVEY</a:t>
            </a:r>
            <a:endParaRPr sz="4800"/>
          </a:p>
        </p:txBody>
      </p:sp>
      <p:graphicFrame>
        <p:nvGraphicFramePr>
          <p:cNvPr id="6" name="Table 5">
            <a:extLst>
              <a:ext uri="{FF2B5EF4-FFF2-40B4-BE49-F238E27FC236}">
                <a16:creationId xmlns:a16="http://schemas.microsoft.com/office/drawing/2014/main" id="{A0D6EE61-95B1-6A6C-504E-728725F2B4A9}"/>
              </a:ext>
            </a:extLst>
          </p:cNvPr>
          <p:cNvGraphicFramePr>
            <a:graphicFrameLocks noGrp="1"/>
          </p:cNvGraphicFramePr>
          <p:nvPr>
            <p:extLst>
              <p:ext uri="{D42A27DB-BD31-4B8C-83A1-F6EECF244321}">
                <p14:modId xmlns:p14="http://schemas.microsoft.com/office/powerpoint/2010/main" val="3097130873"/>
              </p:ext>
            </p:extLst>
          </p:nvPr>
        </p:nvGraphicFramePr>
        <p:xfrm>
          <a:off x="2" y="777095"/>
          <a:ext cx="10973116" cy="5203395"/>
        </p:xfrm>
        <a:graphic>
          <a:graphicData uri="http://schemas.openxmlformats.org/drawingml/2006/table">
            <a:tbl>
              <a:tblPr firstRow="1" bandRow="1">
                <a:tableStyleId>{7E9639D4-E3E2-4D34-9284-5A2195B3D0D7}</a:tableStyleId>
              </a:tblPr>
              <a:tblGrid>
                <a:gridCol w="504410">
                  <a:extLst>
                    <a:ext uri="{9D8B030D-6E8A-4147-A177-3AD203B41FA5}">
                      <a16:colId xmlns:a16="http://schemas.microsoft.com/office/drawing/2014/main" val="3289547010"/>
                    </a:ext>
                  </a:extLst>
                </a:gridCol>
                <a:gridCol w="1504380">
                  <a:extLst>
                    <a:ext uri="{9D8B030D-6E8A-4147-A177-3AD203B41FA5}">
                      <a16:colId xmlns:a16="http://schemas.microsoft.com/office/drawing/2014/main" val="1251365892"/>
                    </a:ext>
                  </a:extLst>
                </a:gridCol>
                <a:gridCol w="886808">
                  <a:extLst>
                    <a:ext uri="{9D8B030D-6E8A-4147-A177-3AD203B41FA5}">
                      <a16:colId xmlns:a16="http://schemas.microsoft.com/office/drawing/2014/main" val="3214887430"/>
                    </a:ext>
                  </a:extLst>
                </a:gridCol>
                <a:gridCol w="1812223">
                  <a:extLst>
                    <a:ext uri="{9D8B030D-6E8A-4147-A177-3AD203B41FA5}">
                      <a16:colId xmlns:a16="http://schemas.microsoft.com/office/drawing/2014/main" val="971432115"/>
                    </a:ext>
                  </a:extLst>
                </a:gridCol>
                <a:gridCol w="3442374">
                  <a:extLst>
                    <a:ext uri="{9D8B030D-6E8A-4147-A177-3AD203B41FA5}">
                      <a16:colId xmlns:a16="http://schemas.microsoft.com/office/drawing/2014/main" val="3655216832"/>
                    </a:ext>
                  </a:extLst>
                </a:gridCol>
                <a:gridCol w="2822921">
                  <a:extLst>
                    <a:ext uri="{9D8B030D-6E8A-4147-A177-3AD203B41FA5}">
                      <a16:colId xmlns:a16="http://schemas.microsoft.com/office/drawing/2014/main" val="920956143"/>
                    </a:ext>
                  </a:extLst>
                </a:gridCol>
              </a:tblGrid>
              <a:tr h="72510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1" dirty="0"/>
                        <a:t>Sr.</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1" dirty="0"/>
                        <a:t>No.</a:t>
                      </a:r>
                      <a:endParaRPr lang="mr-IN" sz="1400" b="1" dirty="0"/>
                    </a:p>
                    <a:p>
                      <a:pPr algn="just"/>
                      <a:endParaRPr lang="mr-IN" sz="1400" b="1"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1" dirty="0"/>
                        <a:t>Paper Name</a:t>
                      </a:r>
                      <a:endParaRPr lang="mr-IN" sz="1400" b="1" dirty="0"/>
                    </a:p>
                    <a:p>
                      <a:pPr algn="just"/>
                      <a:endParaRPr lang="mr-IN" sz="1400" b="1"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b="1" dirty="0"/>
                        <a:t>Year</a:t>
                      </a:r>
                      <a:endParaRPr lang="mr-IN" sz="1400" b="1"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b="1" dirty="0"/>
                        <a:t>Author Name</a:t>
                      </a:r>
                      <a:endParaRPr lang="mr-IN" sz="1400" b="1"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1" dirty="0"/>
                        <a:t>Methodology</a:t>
                      </a:r>
                      <a:endParaRPr lang="mr-IN" sz="1400" b="1" dirty="0"/>
                    </a:p>
                    <a:p>
                      <a:pPr algn="just"/>
                      <a:endParaRPr lang="mr-IN" sz="1400" b="1"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1" dirty="0"/>
                        <a:t>Limitations of the paper</a:t>
                      </a:r>
                      <a:endParaRPr lang="mr-IN" sz="1400" b="1" dirty="0"/>
                    </a:p>
                    <a:p>
                      <a:pPr algn="just"/>
                      <a:endParaRPr lang="mr-IN" sz="1400" b="1"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7780966"/>
                  </a:ext>
                </a:extLst>
              </a:tr>
              <a:tr h="1490625">
                <a:tc>
                  <a:txBody>
                    <a:bodyPr/>
                    <a:lstStyle/>
                    <a:p>
                      <a:pPr algn="just"/>
                      <a:r>
                        <a:rPr lang="en-US" sz="1400" dirty="0"/>
                        <a:t>1.</a:t>
                      </a:r>
                      <a:endParaRPr lang="mr-IN" sz="1400"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err="1"/>
                        <a:t>Helmify</a:t>
                      </a:r>
                      <a:r>
                        <a:rPr lang="en-IN" sz="1400" dirty="0"/>
                        <a:t>: IoT-Based Smart Helmet System for Delivery Rider Safety </a:t>
                      </a:r>
                      <a:endParaRPr lang="mr-IN" sz="1400"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t>2026</a:t>
                      </a:r>
                      <a:endParaRPr lang="mr-IN" sz="1400"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t>Chembe Warren, Mainza Chilanga</a:t>
                      </a:r>
                      <a:endParaRPr lang="mr-IN" sz="1400"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t>Developed an IoT-based smart helmet using </a:t>
                      </a:r>
                      <a:r>
                        <a:rPr lang="en-IN" sz="1400" b="0" dirty="0"/>
                        <a:t>ESP32, MPU6050, FSR sensor, Bluetooth, Firebase, Android app, and Admin Dashboard. </a:t>
                      </a:r>
                      <a:r>
                        <a:rPr lang="en-IN" sz="1400" dirty="0"/>
                        <a:t>It detects helmet usage, monitors accidents, tracks GPS location, and sends emergency alerts in real time.</a:t>
                      </a:r>
                      <a:endParaRPr lang="mr-IN" sz="1400"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en-IN" sz="1400" dirty="0"/>
                        <a:t>Depends on smartphone for GPS and internet. Bluetooth has limited range, and sudden movements may trigger false accident alerts.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518859"/>
                  </a:ext>
                </a:extLst>
              </a:tr>
              <a:tr h="1490625">
                <a:tc>
                  <a:txBody>
                    <a:bodyPr/>
                    <a:lstStyle/>
                    <a:p>
                      <a:pPr algn="just"/>
                      <a:r>
                        <a:rPr lang="en-US" sz="1400" dirty="0"/>
                        <a:t>2.</a:t>
                      </a:r>
                      <a:endParaRPr lang="mr-IN" sz="1400"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t>AI-Based Smart Helmet Detection System </a:t>
                      </a:r>
                      <a:endParaRPr lang="mr-IN" sz="1400"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t>2024</a:t>
                      </a:r>
                      <a:endParaRPr lang="mr-IN" sz="1400"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t>Rania H. </a:t>
                      </a:r>
                      <a:r>
                        <a:rPr lang="en-IN" sz="1400" dirty="0" err="1"/>
                        <a:t>Elabd</a:t>
                      </a:r>
                      <a:r>
                        <a:rPr lang="en-IN" sz="1400" dirty="0"/>
                        <a:t>, Maged M. Darwish, Hazem H. </a:t>
                      </a:r>
                      <a:r>
                        <a:rPr lang="en-IN" sz="1400" dirty="0" err="1"/>
                        <a:t>Alshamekh</a:t>
                      </a:r>
                      <a:r>
                        <a:rPr lang="en-IN" sz="1400" dirty="0"/>
                        <a:t>, Amr S. Moawad</a:t>
                      </a:r>
                      <a:endParaRPr lang="mr-IN" sz="1400"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t>Implemented an AI-based helmet detection system using </a:t>
                      </a:r>
                      <a:r>
                        <a:rPr lang="en-IN" sz="1400" b="0" dirty="0"/>
                        <a:t>YOLO, OpenCV, OCR, Python, and MongoDB. </a:t>
                      </a:r>
                      <a:r>
                        <a:rPr lang="en-IN" sz="1400" dirty="0"/>
                        <a:t>It detects riders without helmets from CCTV footage, recognizes vehicle number plates, and stores violation records automatically.</a:t>
                      </a:r>
                      <a:endParaRPr lang="mr-IN" sz="1400"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t>Detection accuracy depends on camera quality and lighting conditions. OCR accuracy may decrease with blurred or unclear number plates.</a:t>
                      </a:r>
                      <a:endParaRPr lang="mr-IN" sz="1400"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7374227"/>
                  </a:ext>
                </a:extLst>
              </a:tr>
              <a:tr h="1490625">
                <a:tc>
                  <a:txBody>
                    <a:bodyPr/>
                    <a:lstStyle/>
                    <a:p>
                      <a:pPr algn="just"/>
                      <a:r>
                        <a:rPr lang="en-US" sz="1400" dirty="0"/>
                        <a:t>3.</a:t>
                      </a:r>
                      <a:endParaRPr lang="mr-IN" sz="1400"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t>Design and Development of a Smart Motorcycle and Bike Helmet for Enhanced Safety</a:t>
                      </a:r>
                      <a:endParaRPr lang="en-IN"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t>2024</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t>Talari Abhilash, Talluri Bhagya Sree, Terala Srikar Prasad, </a:t>
                      </a:r>
                      <a:endParaRPr lang="mr-IN" sz="1400"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t>Designed a smart helmet using Arduino Uno, Bluetooth, an accelerometer, a gyroscope, and a temperature sensor. It detects crashes, monitors the rider's lean angle, provides voice alerts, and sends emergency notifications via Bluetooth.</a:t>
                      </a:r>
                      <a:endParaRPr lang="mr-IN" sz="1400"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t>Bluetooth communication has limited range. The system does not support GPS tracking or cloud-based monitoring.</a:t>
                      </a:r>
                      <a:endParaRPr lang="mr-IN" sz="1400" dirty="0">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905083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99059" rIns="0" bIns="0" rtlCol="0">
            <a:spAutoFit/>
          </a:bodyPr>
          <a:lstStyle/>
          <a:p>
            <a:pPr marL="12700">
              <a:lnSpc>
                <a:spcPct val="100000"/>
              </a:lnSpc>
              <a:spcBef>
                <a:spcPts val="95"/>
              </a:spcBef>
            </a:pPr>
            <a:r>
              <a:rPr sz="3600" dirty="0"/>
              <a:t>Limitations</a:t>
            </a:r>
            <a:r>
              <a:rPr sz="3600" spc="-30" dirty="0"/>
              <a:t> </a:t>
            </a:r>
            <a:r>
              <a:rPr sz="3600" dirty="0"/>
              <a:t>of</a:t>
            </a:r>
            <a:r>
              <a:rPr sz="3600" spc="-40" dirty="0"/>
              <a:t> </a:t>
            </a:r>
            <a:r>
              <a:rPr sz="3600" dirty="0"/>
              <a:t>existing</a:t>
            </a:r>
            <a:r>
              <a:rPr sz="3600" spc="-25" dirty="0"/>
              <a:t> </a:t>
            </a:r>
            <a:r>
              <a:rPr sz="3600" dirty="0"/>
              <a:t>work/Research</a:t>
            </a:r>
            <a:r>
              <a:rPr sz="3600" spc="-30" dirty="0"/>
              <a:t> </a:t>
            </a:r>
            <a:r>
              <a:rPr sz="4000" spc="-25" dirty="0"/>
              <a:t>Gap</a:t>
            </a:r>
            <a:endParaRPr sz="4000"/>
          </a:p>
        </p:txBody>
      </p:sp>
      <p:sp>
        <p:nvSpPr>
          <p:cNvPr id="4" name="object 4"/>
          <p:cNvSpPr txBox="1">
            <a:spLocks noGrp="1"/>
          </p:cNvSpPr>
          <p:nvPr>
            <p:ph type="ftr" sz="quarter" idx="5"/>
          </p:nvPr>
        </p:nvSpPr>
        <p:spPr>
          <a:xfrm>
            <a:off x="403352" y="5983538"/>
            <a:ext cx="5957366" cy="352916"/>
          </a:xfrm>
          <a:prstGeom prst="rect">
            <a:avLst/>
          </a:prstGeom>
        </p:spPr>
        <p:txBody>
          <a:bodyPr vert="horz" wrap="square" lIns="0" tIns="146303" rIns="0" bIns="0" rtlCol="0">
            <a:spAutoFit/>
          </a:bodyPr>
          <a:lstStyle/>
          <a:p>
            <a:pPr marL="327025">
              <a:lnSpc>
                <a:spcPts val="1630"/>
              </a:lnSpc>
            </a:pPr>
            <a:r>
              <a:rPr dirty="0"/>
              <a:t>–</a:t>
            </a:r>
            <a:r>
              <a:rPr lang="en-US" spc="-10" dirty="0"/>
              <a:t>Smart </a:t>
            </a:r>
            <a:r>
              <a:rPr lang="en-US" spc="-10" dirty="0" err="1"/>
              <a:t>Sheild</a:t>
            </a:r>
            <a:r>
              <a:rPr lang="en-US" spc="-10" dirty="0"/>
              <a:t>  AI </a:t>
            </a:r>
            <a:r>
              <a:rPr lang="en-US" spc="-10" dirty="0" err="1"/>
              <a:t>enabeled</a:t>
            </a:r>
            <a:r>
              <a:rPr lang="en-US" spc="-10" dirty="0"/>
              <a:t> helmet </a:t>
            </a:r>
          </a:p>
        </p:txBody>
      </p:sp>
      <p:sp>
        <p:nvSpPr>
          <p:cNvPr id="3" name="object 3"/>
          <p:cNvSpPr txBox="1"/>
          <p:nvPr/>
        </p:nvSpPr>
        <p:spPr>
          <a:xfrm>
            <a:off x="1066291" y="1573989"/>
            <a:ext cx="8781289" cy="3904915"/>
          </a:xfrm>
          <a:prstGeom prst="rect">
            <a:avLst/>
          </a:prstGeom>
        </p:spPr>
        <p:txBody>
          <a:bodyPr vert="horz" wrap="square" lIns="0" tIns="67310" rIns="0" bIns="0" rtlCol="0">
            <a:spAutoFit/>
          </a:bodyPr>
          <a:lstStyle/>
          <a:p>
            <a:pPr marL="12700" marR="388620">
              <a:lnSpc>
                <a:spcPct val="80000"/>
              </a:lnSpc>
              <a:spcBef>
                <a:spcPts val="530"/>
              </a:spcBef>
            </a:pPr>
            <a:r>
              <a:rPr lang="en-US" b="1" dirty="0">
                <a:latin typeface="Times New Roman" panose="02020603050405020304" pitchFamily="18" charset="0"/>
                <a:cs typeface="Times New Roman" panose="02020603050405020304" pitchFamily="18" charset="0"/>
              </a:rPr>
              <a:t>Limited focus on rider safety:</a:t>
            </a:r>
            <a:r>
              <a:rPr lang="en-US" dirty="0">
                <a:latin typeface="Times New Roman" panose="02020603050405020304" pitchFamily="18" charset="0"/>
                <a:cs typeface="Times New Roman" panose="02020603050405020304" pitchFamily="18" charset="0"/>
              </a:rPr>
              <a:t> Existing systems mainly focus on basic helmet protection rather than actively monitoring multiple rider safety conditions.</a:t>
            </a:r>
          </a:p>
          <a:p>
            <a:pPr marL="12700" marR="388620">
              <a:lnSpc>
                <a:spcPct val="80000"/>
              </a:lnSpc>
              <a:spcBef>
                <a:spcPts val="530"/>
              </a:spcBef>
            </a:pPr>
            <a:endParaRPr lang="en-US" sz="1800" dirty="0">
              <a:latin typeface="Times New Roman" panose="02020603050405020304" pitchFamily="18" charset="0"/>
              <a:cs typeface="Times New Roman" panose="02020603050405020304" pitchFamily="18" charset="0"/>
            </a:endParaRPr>
          </a:p>
          <a:p>
            <a:pPr marL="12700" marR="388620">
              <a:lnSpc>
                <a:spcPct val="80000"/>
              </a:lnSpc>
              <a:spcBef>
                <a:spcPts val="530"/>
              </a:spcBef>
            </a:pPr>
            <a:r>
              <a:rPr lang="en-US" b="1" dirty="0">
                <a:latin typeface="Times New Roman" panose="02020603050405020304" pitchFamily="18" charset="0"/>
                <a:cs typeface="Times New Roman" panose="02020603050405020304" pitchFamily="18" charset="0"/>
              </a:rPr>
              <a:t>Lack of proactive safety measures:</a:t>
            </a:r>
            <a:r>
              <a:rPr lang="en-US" dirty="0">
                <a:latin typeface="Times New Roman" panose="02020603050405020304" pitchFamily="18" charset="0"/>
                <a:cs typeface="Times New Roman" panose="02020603050405020304" pitchFamily="18" charset="0"/>
              </a:rPr>
              <a:t> Conventional helmets cannot automatically prevent riding when the helmet is not worn or alcohol is detected.</a:t>
            </a:r>
          </a:p>
          <a:p>
            <a:pPr marL="12700" marR="388620">
              <a:lnSpc>
                <a:spcPct val="80000"/>
              </a:lnSpc>
              <a:spcBef>
                <a:spcPts val="530"/>
              </a:spcBef>
            </a:pPr>
            <a:endParaRPr lang="en-US" sz="1800" dirty="0">
              <a:latin typeface="Times New Roman" panose="02020603050405020304" pitchFamily="18" charset="0"/>
              <a:cs typeface="Times New Roman" panose="02020603050405020304" pitchFamily="18" charset="0"/>
            </a:endParaRPr>
          </a:p>
          <a:p>
            <a:pPr marL="12700" marR="388620">
              <a:lnSpc>
                <a:spcPct val="80000"/>
              </a:lnSpc>
              <a:spcBef>
                <a:spcPts val="530"/>
              </a:spcBef>
            </a:pPr>
            <a:r>
              <a:rPr lang="en-US" b="1" dirty="0">
                <a:latin typeface="Times New Roman" panose="02020603050405020304" pitchFamily="18" charset="0"/>
                <a:cs typeface="Times New Roman" panose="02020603050405020304" pitchFamily="18" charset="0"/>
              </a:rPr>
              <a:t>Limited drowsiness detection:</a:t>
            </a:r>
            <a:r>
              <a:rPr lang="en-US" dirty="0">
                <a:latin typeface="Times New Roman" panose="02020603050405020304" pitchFamily="18" charset="0"/>
                <a:cs typeface="Times New Roman" panose="02020603050405020304" pitchFamily="18" charset="0"/>
              </a:rPr>
              <a:t> Traditional safety systems provide limited support for detecting rider fatigue or prolonged eye closure.</a:t>
            </a:r>
          </a:p>
          <a:p>
            <a:pPr marL="12700" marR="388620">
              <a:lnSpc>
                <a:spcPct val="80000"/>
              </a:lnSpc>
              <a:spcBef>
                <a:spcPts val="530"/>
              </a:spcBef>
            </a:pPr>
            <a:endParaRPr lang="en-US" sz="1800" dirty="0">
              <a:latin typeface="Times New Roman" panose="02020603050405020304" pitchFamily="18" charset="0"/>
              <a:cs typeface="Times New Roman" panose="02020603050405020304" pitchFamily="18" charset="0"/>
            </a:endParaRPr>
          </a:p>
          <a:p>
            <a:pPr marL="12700" marR="388620">
              <a:lnSpc>
                <a:spcPct val="80000"/>
              </a:lnSpc>
              <a:spcBef>
                <a:spcPts val="530"/>
              </a:spcBef>
            </a:pPr>
            <a:r>
              <a:rPr lang="en-US" b="1" dirty="0">
                <a:latin typeface="Times New Roman" panose="02020603050405020304" pitchFamily="18" charset="0"/>
                <a:cs typeface="Times New Roman" panose="02020603050405020304" pitchFamily="18" charset="0"/>
              </a:rPr>
              <a:t>Delayed emergency assistance:</a:t>
            </a:r>
            <a:r>
              <a:rPr lang="en-US" dirty="0">
                <a:latin typeface="Times New Roman" panose="02020603050405020304" pitchFamily="18" charset="0"/>
                <a:cs typeface="Times New Roman" panose="02020603050405020304" pitchFamily="18" charset="0"/>
              </a:rPr>
              <a:t> Existing systems may not provide automatic accident detection and real-time location sharing for faster emergency response.</a:t>
            </a:r>
          </a:p>
          <a:p>
            <a:pPr marL="12700" marR="388620">
              <a:lnSpc>
                <a:spcPct val="80000"/>
              </a:lnSpc>
              <a:spcBef>
                <a:spcPts val="530"/>
              </a:spcBef>
            </a:pPr>
            <a:endParaRPr lang="en-US" sz="1800" dirty="0">
              <a:latin typeface="Times New Roman" panose="02020603050405020304" pitchFamily="18" charset="0"/>
              <a:cs typeface="Times New Roman" panose="02020603050405020304" pitchFamily="18" charset="0"/>
            </a:endParaRPr>
          </a:p>
          <a:p>
            <a:pPr marL="12700" marR="388620">
              <a:lnSpc>
                <a:spcPct val="80000"/>
              </a:lnSpc>
              <a:spcBef>
                <a:spcPts val="530"/>
              </a:spcBef>
            </a:pPr>
            <a:r>
              <a:rPr lang="en-US" b="1" dirty="0">
                <a:latin typeface="Times New Roman" panose="02020603050405020304" pitchFamily="18" charset="0"/>
                <a:cs typeface="Times New Roman" panose="02020603050405020304" pitchFamily="18" charset="0"/>
              </a:rPr>
              <a:t>Limited integration:</a:t>
            </a:r>
            <a:r>
              <a:rPr lang="en-US" dirty="0">
                <a:latin typeface="Times New Roman" panose="02020603050405020304" pitchFamily="18" charset="0"/>
                <a:cs typeface="Times New Roman" panose="02020603050405020304" pitchFamily="18" charset="0"/>
              </a:rPr>
              <a:t> Helmet detection, alcohol detection, drowsiness monitoring, accident detection, and emergency communication are often not combined into a single integrated system</a:t>
            </a:r>
            <a:r>
              <a:rPr lang="en-US" dirty="0"/>
              <a:t>.</a:t>
            </a:r>
            <a:endParaRPr sz="180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66291" y="1331594"/>
            <a:ext cx="8970645" cy="0"/>
          </a:xfrm>
          <a:custGeom>
            <a:avLst/>
            <a:gdLst/>
            <a:ahLst/>
            <a:cxnLst/>
            <a:rect l="l" t="t" r="r" b="b"/>
            <a:pathLst>
              <a:path w="8970645">
                <a:moveTo>
                  <a:pt x="0" y="0"/>
                </a:moveTo>
                <a:lnTo>
                  <a:pt x="8970251" y="0"/>
                </a:lnTo>
              </a:path>
            </a:pathLst>
          </a:custGeom>
          <a:ln w="9525">
            <a:solidFill>
              <a:srgbClr val="7E7E7E"/>
            </a:solidFill>
          </a:ln>
        </p:spPr>
        <p:txBody>
          <a:bodyPr wrap="square" lIns="0" tIns="0" rIns="0" bIns="0" rtlCol="0"/>
          <a:lstStyle/>
          <a:p>
            <a:endParaRPr/>
          </a:p>
        </p:txBody>
      </p:sp>
      <p:sp>
        <p:nvSpPr>
          <p:cNvPr id="3" name="object 3" descr="$PPTXTitle"/>
          <p:cNvSpPr txBox="1">
            <a:spLocks noGrp="1"/>
          </p:cNvSpPr>
          <p:nvPr>
            <p:ph type="title"/>
          </p:nvPr>
        </p:nvSpPr>
        <p:spPr>
          <a:xfrm>
            <a:off x="1066291" y="0"/>
            <a:ext cx="8502015" cy="1285112"/>
          </a:xfrm>
          <a:prstGeom prst="rect">
            <a:avLst/>
          </a:prstGeom>
        </p:spPr>
        <p:txBody>
          <a:bodyPr vert="horz" wrap="square" lIns="0" tIns="269621" rIns="0" bIns="0" rtlCol="0">
            <a:spAutoFit/>
          </a:bodyPr>
          <a:lstStyle/>
          <a:p>
            <a:pPr marL="2141855">
              <a:lnSpc>
                <a:spcPct val="100000"/>
              </a:lnSpc>
              <a:spcBef>
                <a:spcPts val="105"/>
              </a:spcBef>
            </a:pPr>
            <a:r>
              <a:rPr dirty="0"/>
              <a:t>Problem</a:t>
            </a:r>
            <a:r>
              <a:rPr spc="-30" dirty="0"/>
              <a:t> </a:t>
            </a:r>
            <a:r>
              <a:rPr spc="-10" dirty="0"/>
              <a:t>Statement</a:t>
            </a:r>
          </a:p>
        </p:txBody>
      </p:sp>
      <p:sp>
        <p:nvSpPr>
          <p:cNvPr id="4" name="object 4"/>
          <p:cNvSpPr txBox="1">
            <a:spLocks noGrp="1"/>
          </p:cNvSpPr>
          <p:nvPr>
            <p:ph type="body" idx="1"/>
          </p:nvPr>
        </p:nvSpPr>
        <p:spPr>
          <a:xfrm>
            <a:off x="1009584" y="1387180"/>
            <a:ext cx="9081135" cy="2241639"/>
          </a:xfrm>
          <a:prstGeom prst="rect">
            <a:avLst/>
          </a:prstGeom>
        </p:spPr>
        <p:txBody>
          <a:bodyPr vert="horz" wrap="square" lIns="0" tIns="12700" rIns="0" bIns="0" rtlCol="0">
            <a:spAutoFit/>
          </a:bodyPr>
          <a:lstStyle/>
          <a:p>
            <a:pPr marL="12700" algn="just">
              <a:lnSpc>
                <a:spcPct val="100000"/>
              </a:lnSpc>
              <a:spcBef>
                <a:spcPts val="100"/>
              </a:spcBef>
              <a:buClr>
                <a:srgbClr val="E38312"/>
              </a:buClr>
              <a:tabLst>
                <a:tab pos="299085" algn="l"/>
              </a:tabLst>
            </a:pPr>
            <a:r>
              <a:rPr lang="en-US" dirty="0"/>
              <a:t>Helmet non-compliance Many motorcycle riders do not wear helmets properly, increasing the risk of severe injuries during accidents. Drunk riding Riders may operate motorcycles under the influence of alcohol, increasing the possibility of accidents and unsafe riding. Drowsiness while riding Fatigue and prolonged eye closure can reduce rider alertness and increase the chances of accidents. Delayed accident response After an accident, emergency contacts may not be informed immediately, resulting in delays in receiving medical assistance. No automatic safety monitoring Conventional helmets provide physical protection but cannot monitor helmet usage, alcohol levels, rider alertness, or accidents.</a:t>
            </a:r>
            <a:endParaRPr spc="-10" dirty="0"/>
          </a:p>
        </p:txBody>
      </p:sp>
      <p:pic>
        <p:nvPicPr>
          <p:cNvPr id="5" name="object 5"/>
          <p:cNvPicPr/>
          <p:nvPr/>
        </p:nvPicPr>
        <p:blipFill>
          <a:blip r:embed="rId2" cstate="print"/>
          <a:stretch>
            <a:fillRect/>
          </a:stretch>
        </p:blipFill>
        <p:spPr>
          <a:xfrm>
            <a:off x="1846452" y="2072513"/>
            <a:ext cx="125984" cy="125984"/>
          </a:xfrm>
          <a:prstGeom prst="rect">
            <a:avLst/>
          </a:prstGeom>
        </p:spPr>
      </p:pic>
      <p:sp>
        <p:nvSpPr>
          <p:cNvPr id="6" name="object 6"/>
          <p:cNvSpPr txBox="1">
            <a:spLocks noGrp="1"/>
          </p:cNvSpPr>
          <p:nvPr>
            <p:ph type="ftr" sz="quarter" idx="5"/>
          </p:nvPr>
        </p:nvSpPr>
        <p:spPr>
          <a:xfrm>
            <a:off x="403352" y="5983538"/>
            <a:ext cx="5957366" cy="249811"/>
          </a:xfrm>
          <a:prstGeom prst="rect">
            <a:avLst/>
          </a:prstGeom>
        </p:spPr>
        <p:txBody>
          <a:bodyPr vert="horz" wrap="square" lIns="0" tIns="44195" rIns="0" bIns="0" rtlCol="0">
            <a:spAutoFit/>
          </a:bodyPr>
          <a:lstStyle/>
          <a:p>
            <a:pPr marL="327025">
              <a:lnSpc>
                <a:spcPts val="1630"/>
              </a:lnSpc>
            </a:pPr>
            <a:r>
              <a:rPr lang="en-US" spc="-10" dirty="0"/>
              <a:t>Smart </a:t>
            </a:r>
            <a:r>
              <a:rPr lang="en-US" spc="-10" dirty="0" err="1"/>
              <a:t>Sheild</a:t>
            </a:r>
            <a:r>
              <a:rPr lang="en-US" spc="-10" dirty="0"/>
              <a:t>  AI </a:t>
            </a:r>
            <a:r>
              <a:rPr lang="en-US" spc="-10" dirty="0" err="1"/>
              <a:t>enabeled</a:t>
            </a:r>
            <a:r>
              <a:rPr lang="en-US" spc="-10" dirty="0"/>
              <a:t> helmet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0891" y="1200148"/>
            <a:ext cx="9362440" cy="530225"/>
            <a:chOff x="1004965" y="1221994"/>
            <a:chExt cx="9362440" cy="530225"/>
          </a:xfrm>
        </p:grpSpPr>
        <p:sp>
          <p:nvSpPr>
            <p:cNvPr id="3" name="object 3"/>
            <p:cNvSpPr/>
            <p:nvPr/>
          </p:nvSpPr>
          <p:spPr>
            <a:xfrm>
              <a:off x="1074178" y="1622044"/>
              <a:ext cx="8970645" cy="0"/>
            </a:xfrm>
            <a:custGeom>
              <a:avLst/>
              <a:gdLst/>
              <a:ahLst/>
              <a:cxnLst/>
              <a:rect l="l" t="t" r="r" b="b"/>
              <a:pathLst>
                <a:path w="8970645">
                  <a:moveTo>
                    <a:pt x="0" y="0"/>
                  </a:moveTo>
                  <a:lnTo>
                    <a:pt x="8970251" y="0"/>
                  </a:lnTo>
                </a:path>
              </a:pathLst>
            </a:custGeom>
            <a:ln w="9525">
              <a:solidFill>
                <a:srgbClr val="7E7E7E"/>
              </a:solidFill>
            </a:ln>
          </p:spPr>
          <p:txBody>
            <a:bodyPr wrap="square" lIns="0" tIns="0" rIns="0" bIns="0" rtlCol="0"/>
            <a:lstStyle/>
            <a:p>
              <a:endParaRPr/>
            </a:p>
          </p:txBody>
        </p:sp>
        <p:pic>
          <p:nvPicPr>
            <p:cNvPr id="4" name="object 4"/>
            <p:cNvPicPr/>
            <p:nvPr/>
          </p:nvPicPr>
          <p:blipFill>
            <a:blip r:embed="rId2" cstate="print"/>
            <a:stretch>
              <a:fillRect/>
            </a:stretch>
          </p:blipFill>
          <p:spPr>
            <a:xfrm>
              <a:off x="1004965" y="1221994"/>
              <a:ext cx="9362236" cy="529717"/>
            </a:xfrm>
            <a:prstGeom prst="rect">
              <a:avLst/>
            </a:prstGeom>
          </p:spPr>
        </p:pic>
      </p:grpSp>
      <p:sp>
        <p:nvSpPr>
          <p:cNvPr id="5" name="object 5" descr="$PPTXTitle"/>
          <p:cNvSpPr txBox="1">
            <a:spLocks noGrp="1"/>
          </p:cNvSpPr>
          <p:nvPr>
            <p:ph type="title"/>
          </p:nvPr>
        </p:nvSpPr>
        <p:spPr>
          <a:prstGeom prst="rect">
            <a:avLst/>
          </a:prstGeom>
        </p:spPr>
        <p:txBody>
          <a:bodyPr vert="horz" wrap="square" lIns="0" tIns="157352" rIns="0" bIns="0" rtlCol="0">
            <a:spAutoFit/>
          </a:bodyPr>
          <a:lstStyle/>
          <a:p>
            <a:pPr marL="3903979">
              <a:lnSpc>
                <a:spcPct val="100000"/>
              </a:lnSpc>
              <a:spcBef>
                <a:spcPts val="95"/>
              </a:spcBef>
            </a:pPr>
            <a:r>
              <a:rPr sz="4000" spc="-10" dirty="0"/>
              <a:t>Scope</a:t>
            </a:r>
            <a:endParaRPr sz="4000"/>
          </a:p>
        </p:txBody>
      </p:sp>
      <p:sp>
        <p:nvSpPr>
          <p:cNvPr id="7" name="object 7"/>
          <p:cNvSpPr txBox="1">
            <a:spLocks noGrp="1"/>
          </p:cNvSpPr>
          <p:nvPr>
            <p:ph type="ftr" sz="quarter" idx="5"/>
          </p:nvPr>
        </p:nvSpPr>
        <p:spPr>
          <a:xfrm>
            <a:off x="403352" y="5983538"/>
            <a:ext cx="5957366" cy="205184"/>
          </a:xfrm>
          <a:prstGeom prst="rect">
            <a:avLst/>
          </a:prstGeom>
        </p:spPr>
        <p:txBody>
          <a:bodyPr vert="horz" wrap="square" lIns="0" tIns="0" rIns="0" bIns="0" rtlCol="0">
            <a:spAutoFit/>
          </a:bodyPr>
          <a:lstStyle/>
          <a:p>
            <a:pPr marL="327025">
              <a:lnSpc>
                <a:spcPts val="1630"/>
              </a:lnSpc>
            </a:pPr>
            <a:r>
              <a:rPr lang="en-US" spc="-10" dirty="0"/>
              <a:t>Smart </a:t>
            </a:r>
            <a:r>
              <a:rPr lang="en-US" spc="-10" dirty="0" err="1"/>
              <a:t>Sheild</a:t>
            </a:r>
            <a:r>
              <a:rPr lang="en-US" spc="-10" dirty="0"/>
              <a:t>  AI </a:t>
            </a:r>
            <a:r>
              <a:rPr lang="en-US" spc="-10" dirty="0" err="1"/>
              <a:t>enabeled</a:t>
            </a:r>
            <a:r>
              <a:rPr lang="en-US" spc="-10" dirty="0"/>
              <a:t> helmet </a:t>
            </a:r>
          </a:p>
        </p:txBody>
      </p:sp>
      <p:sp>
        <p:nvSpPr>
          <p:cNvPr id="6" name="object 6"/>
          <p:cNvSpPr txBox="1">
            <a:spLocks noGrp="1"/>
          </p:cNvSpPr>
          <p:nvPr>
            <p:ph type="body" idx="1"/>
          </p:nvPr>
        </p:nvSpPr>
        <p:spPr>
          <a:xfrm>
            <a:off x="1066291" y="1066800"/>
            <a:ext cx="9081135" cy="4188197"/>
          </a:xfrm>
          <a:prstGeom prst="rect">
            <a:avLst/>
          </a:prstGeom>
        </p:spPr>
        <p:txBody>
          <a:bodyPr vert="horz" wrap="square" lIns="0" tIns="205612" rIns="0" bIns="0" rtlCol="0">
            <a:spAutoFit/>
          </a:bodyPr>
          <a:lstStyle/>
          <a:p>
            <a:pPr marL="299085" indent="-286385">
              <a:spcBef>
                <a:spcPts val="100"/>
              </a:spcBef>
              <a:buClr>
                <a:srgbClr val="E38312"/>
              </a:buClr>
              <a:buFont typeface="Arial MT"/>
              <a:buChar char="•"/>
              <a:tabLst>
                <a:tab pos="299085" algn="l"/>
              </a:tabLst>
            </a:pPr>
            <a:r>
              <a:rPr lang="en-US" b="1" dirty="0"/>
              <a:t>Helmet Detection</a:t>
            </a:r>
            <a:r>
              <a:rPr lang="en-US" dirty="0"/>
              <a:t>: Ensure that the motorcycle starts only when the rider is wearing the helmet properly.</a:t>
            </a:r>
          </a:p>
          <a:p>
            <a:pPr marL="299085" indent="-286385">
              <a:spcBef>
                <a:spcPts val="100"/>
              </a:spcBef>
              <a:buClr>
                <a:srgbClr val="E38312"/>
              </a:buClr>
              <a:buFont typeface="Arial MT"/>
              <a:buChar char="•"/>
              <a:tabLst>
                <a:tab pos="299085" algn="l"/>
              </a:tabLst>
            </a:pPr>
            <a:endParaRPr lang="en-US" b="1" dirty="0"/>
          </a:p>
          <a:p>
            <a:pPr marL="299085" indent="-286385">
              <a:spcBef>
                <a:spcPts val="100"/>
              </a:spcBef>
              <a:buClr>
                <a:srgbClr val="E38312"/>
              </a:buClr>
              <a:buFont typeface="Arial MT"/>
              <a:buChar char="•"/>
              <a:tabLst>
                <a:tab pos="299085" algn="l"/>
              </a:tabLst>
            </a:pPr>
            <a:r>
              <a:rPr lang="en-US" b="1" dirty="0"/>
              <a:t>Alcohol Detection</a:t>
            </a:r>
            <a:r>
              <a:rPr lang="en-US" dirty="0"/>
              <a:t>: Detect alcohol consumption using an MQ-3 sensor and prevent the motorcycle from starting when the detected level exceeds the defined threshold.</a:t>
            </a:r>
          </a:p>
          <a:p>
            <a:pPr marL="299085" indent="-286385">
              <a:spcBef>
                <a:spcPts val="100"/>
              </a:spcBef>
              <a:buClr>
                <a:srgbClr val="E38312"/>
              </a:buClr>
              <a:buFont typeface="Arial MT"/>
              <a:buChar char="•"/>
              <a:tabLst>
                <a:tab pos="299085" algn="l"/>
              </a:tabLst>
            </a:pPr>
            <a:endParaRPr lang="en-US" b="1" dirty="0"/>
          </a:p>
          <a:p>
            <a:pPr marL="299085" indent="-286385">
              <a:spcBef>
                <a:spcPts val="100"/>
              </a:spcBef>
              <a:buClr>
                <a:srgbClr val="E38312"/>
              </a:buClr>
              <a:buFont typeface="Arial MT"/>
              <a:buChar char="•"/>
              <a:tabLst>
                <a:tab pos="299085" algn="l"/>
              </a:tabLst>
            </a:pPr>
            <a:r>
              <a:rPr lang="en-US" b="1" dirty="0"/>
              <a:t>Drowsiness Detection</a:t>
            </a:r>
            <a:r>
              <a:rPr lang="en-US" dirty="0"/>
              <a:t>: Monitor the rider's eye blinking/closure using IR sensors and generate an alert when prolonged eye closure is detected.</a:t>
            </a:r>
          </a:p>
          <a:p>
            <a:pPr marL="299085" indent="-286385">
              <a:spcBef>
                <a:spcPts val="100"/>
              </a:spcBef>
              <a:buClr>
                <a:srgbClr val="E38312"/>
              </a:buClr>
              <a:buFont typeface="Arial MT"/>
              <a:buChar char="•"/>
              <a:tabLst>
                <a:tab pos="299085" algn="l"/>
              </a:tabLst>
            </a:pPr>
            <a:endParaRPr lang="en-US" dirty="0"/>
          </a:p>
          <a:p>
            <a:pPr marL="299085" indent="-286385">
              <a:spcBef>
                <a:spcPts val="100"/>
              </a:spcBef>
              <a:buClr>
                <a:srgbClr val="E38312"/>
              </a:buClr>
              <a:buFont typeface="Arial MT"/>
              <a:buChar char="•"/>
              <a:tabLst>
                <a:tab pos="299085" algn="l"/>
              </a:tabLst>
            </a:pPr>
            <a:r>
              <a:rPr lang="en-US" b="1" dirty="0"/>
              <a:t>Accident Detection</a:t>
            </a:r>
            <a:r>
              <a:rPr lang="en-US" dirty="0"/>
              <a:t>: Continuously monitor sudden movements or impacts using an accelerometer/vibration sensor to automatically identify possible accidents.</a:t>
            </a:r>
          </a:p>
          <a:p>
            <a:pPr marL="299085" indent="-286385">
              <a:spcBef>
                <a:spcPts val="100"/>
              </a:spcBef>
              <a:buClr>
                <a:srgbClr val="E38312"/>
              </a:buClr>
              <a:buFont typeface="Arial MT"/>
              <a:buChar char="•"/>
              <a:tabLst>
                <a:tab pos="299085" algn="l"/>
              </a:tabLst>
            </a:pPr>
            <a:endParaRPr lang="en-US" b="1" dirty="0"/>
          </a:p>
          <a:p>
            <a:pPr marL="299085" indent="-286385">
              <a:spcBef>
                <a:spcPts val="100"/>
              </a:spcBef>
              <a:buClr>
                <a:srgbClr val="E38312"/>
              </a:buClr>
              <a:buFont typeface="Arial MT"/>
              <a:buChar char="•"/>
              <a:tabLst>
                <a:tab pos="299085" algn="l"/>
              </a:tabLst>
            </a:pPr>
            <a:r>
              <a:rPr lang="en-US" b="1" dirty="0"/>
              <a:t>Accident Detection: </a:t>
            </a:r>
            <a:r>
              <a:rPr lang="en-US" dirty="0"/>
              <a:t>Continuously monitor sudden movements or impacts using an accelerometer/vibration sensor to automatically identify possible accidents</a:t>
            </a:r>
            <a:r>
              <a:rPr lang="en-US" b="1" dirty="0"/>
              <a:t>.</a:t>
            </a:r>
            <a:endParaRPr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69621" rIns="0" bIns="0" rtlCol="0">
            <a:spAutoFit/>
          </a:bodyPr>
          <a:lstStyle/>
          <a:p>
            <a:pPr marL="1800860">
              <a:lnSpc>
                <a:spcPct val="100000"/>
              </a:lnSpc>
              <a:spcBef>
                <a:spcPts val="105"/>
              </a:spcBef>
            </a:pPr>
            <a:r>
              <a:rPr dirty="0"/>
              <a:t>Proposed</a:t>
            </a:r>
            <a:r>
              <a:rPr spc="-60" dirty="0"/>
              <a:t> </a:t>
            </a:r>
            <a:r>
              <a:rPr spc="-10" dirty="0"/>
              <a:t>architecture</a:t>
            </a:r>
          </a:p>
        </p:txBody>
      </p:sp>
      <p:sp>
        <p:nvSpPr>
          <p:cNvPr id="3" name="object 3"/>
          <p:cNvSpPr txBox="1">
            <a:spLocks noGrp="1"/>
          </p:cNvSpPr>
          <p:nvPr>
            <p:ph type="ftr" sz="quarter" idx="5"/>
          </p:nvPr>
        </p:nvSpPr>
        <p:spPr>
          <a:xfrm>
            <a:off x="403352" y="5983538"/>
            <a:ext cx="5957366" cy="323062"/>
          </a:xfrm>
          <a:prstGeom prst="rect">
            <a:avLst/>
          </a:prstGeom>
        </p:spPr>
        <p:txBody>
          <a:bodyPr vert="horz" wrap="square" lIns="0" tIns="116738" rIns="0" bIns="0" rtlCol="0">
            <a:spAutoFit/>
          </a:bodyPr>
          <a:lstStyle/>
          <a:p>
            <a:pPr marL="327025">
              <a:lnSpc>
                <a:spcPts val="1630"/>
              </a:lnSpc>
            </a:pPr>
            <a:r>
              <a:rPr lang="en-US" spc="-10" dirty="0"/>
              <a:t>Smart </a:t>
            </a:r>
            <a:r>
              <a:rPr lang="en-US" spc="-10" dirty="0" err="1"/>
              <a:t>Sheild</a:t>
            </a:r>
            <a:r>
              <a:rPr lang="en-US" spc="-10" dirty="0"/>
              <a:t>  AI </a:t>
            </a:r>
            <a:r>
              <a:rPr lang="en-US" spc="-10" dirty="0" err="1"/>
              <a:t>enabeled</a:t>
            </a:r>
            <a:r>
              <a:rPr lang="en-US" spc="-10" dirty="0"/>
              <a:t> helmet </a:t>
            </a:r>
          </a:p>
        </p:txBody>
      </p:sp>
      <p:pic>
        <p:nvPicPr>
          <p:cNvPr id="5" name="Picture 4"/>
          <p:cNvPicPr>
            <a:picLocks noChangeAspect="1"/>
          </p:cNvPicPr>
          <p:nvPr/>
        </p:nvPicPr>
        <p:blipFill>
          <a:blip r:embed="rId2"/>
          <a:stretch>
            <a:fillRect/>
          </a:stretch>
        </p:blipFill>
        <p:spPr>
          <a:xfrm>
            <a:off x="0" y="-65971"/>
            <a:ext cx="10972800" cy="58571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27235" y="1231138"/>
            <a:ext cx="9607550" cy="532130"/>
            <a:chOff x="727235" y="1231138"/>
            <a:chExt cx="9607550" cy="532130"/>
          </a:xfrm>
        </p:grpSpPr>
        <p:sp>
          <p:nvSpPr>
            <p:cNvPr id="3" name="object 3"/>
            <p:cNvSpPr/>
            <p:nvPr/>
          </p:nvSpPr>
          <p:spPr>
            <a:xfrm>
              <a:off x="1074178" y="1622044"/>
              <a:ext cx="8970645" cy="0"/>
            </a:xfrm>
            <a:custGeom>
              <a:avLst/>
              <a:gdLst/>
              <a:ahLst/>
              <a:cxnLst/>
              <a:rect l="l" t="t" r="r" b="b"/>
              <a:pathLst>
                <a:path w="8970645">
                  <a:moveTo>
                    <a:pt x="0" y="0"/>
                  </a:moveTo>
                  <a:lnTo>
                    <a:pt x="8970251" y="0"/>
                  </a:lnTo>
                </a:path>
              </a:pathLst>
            </a:custGeom>
            <a:ln w="9525">
              <a:solidFill>
                <a:srgbClr val="7E7E7E"/>
              </a:solidFill>
            </a:ln>
          </p:spPr>
          <p:txBody>
            <a:bodyPr wrap="square" lIns="0" tIns="0" rIns="0" bIns="0" rtlCol="0"/>
            <a:lstStyle/>
            <a:p>
              <a:endParaRPr/>
            </a:p>
          </p:txBody>
        </p:sp>
        <p:pic>
          <p:nvPicPr>
            <p:cNvPr id="4" name="object 4"/>
            <p:cNvPicPr/>
            <p:nvPr/>
          </p:nvPicPr>
          <p:blipFill>
            <a:blip r:embed="rId2" cstate="print"/>
            <a:stretch>
              <a:fillRect/>
            </a:stretch>
          </p:blipFill>
          <p:spPr>
            <a:xfrm>
              <a:off x="727235" y="1231138"/>
              <a:ext cx="9607123" cy="532129"/>
            </a:xfrm>
            <a:prstGeom prst="rect">
              <a:avLst/>
            </a:prstGeom>
          </p:spPr>
        </p:pic>
      </p:grpSp>
      <p:sp>
        <p:nvSpPr>
          <p:cNvPr id="5" name="object 5" descr="$PPTXTitle"/>
          <p:cNvSpPr txBox="1">
            <a:spLocks noGrp="1"/>
          </p:cNvSpPr>
          <p:nvPr>
            <p:ph type="title"/>
          </p:nvPr>
        </p:nvSpPr>
        <p:spPr>
          <a:prstGeom prst="rect">
            <a:avLst/>
          </a:prstGeom>
        </p:spPr>
        <p:txBody>
          <a:bodyPr vert="horz" wrap="square" lIns="0" tIns="280288" rIns="0" bIns="0" rtlCol="0">
            <a:spAutoFit/>
          </a:bodyPr>
          <a:lstStyle/>
          <a:p>
            <a:pPr marL="2877820">
              <a:lnSpc>
                <a:spcPct val="100000"/>
              </a:lnSpc>
              <a:spcBef>
                <a:spcPts val="105"/>
              </a:spcBef>
            </a:pPr>
            <a:r>
              <a:rPr spc="-10" dirty="0"/>
              <a:t>Methodology</a:t>
            </a:r>
          </a:p>
        </p:txBody>
      </p:sp>
      <p:sp>
        <p:nvSpPr>
          <p:cNvPr id="7" name="object 7"/>
          <p:cNvSpPr txBox="1">
            <a:spLocks noGrp="1"/>
          </p:cNvSpPr>
          <p:nvPr>
            <p:ph type="ftr" sz="quarter" idx="5"/>
          </p:nvPr>
        </p:nvSpPr>
        <p:spPr>
          <a:xfrm>
            <a:off x="403352" y="5983538"/>
            <a:ext cx="5957366" cy="279050"/>
          </a:xfrm>
          <a:prstGeom prst="rect">
            <a:avLst/>
          </a:prstGeom>
        </p:spPr>
        <p:txBody>
          <a:bodyPr vert="horz" wrap="square" lIns="0" tIns="73151" rIns="0" bIns="0" rtlCol="0">
            <a:spAutoFit/>
          </a:bodyPr>
          <a:lstStyle/>
          <a:p>
            <a:pPr marL="327025">
              <a:lnSpc>
                <a:spcPts val="1630"/>
              </a:lnSpc>
            </a:pPr>
            <a:r>
              <a:rPr lang="en-US" spc="-10" dirty="0"/>
              <a:t>Smart </a:t>
            </a:r>
            <a:r>
              <a:rPr lang="en-US" spc="-10" dirty="0" err="1"/>
              <a:t>Sheild</a:t>
            </a:r>
            <a:r>
              <a:rPr lang="en-US" spc="-10" dirty="0"/>
              <a:t>  AI </a:t>
            </a:r>
            <a:r>
              <a:rPr lang="en-US" spc="-10" dirty="0" err="1"/>
              <a:t>enabeled</a:t>
            </a:r>
            <a:r>
              <a:rPr lang="en-US" spc="-10" dirty="0"/>
              <a:t> helmet </a:t>
            </a:r>
          </a:p>
        </p:txBody>
      </p:sp>
      <p:sp>
        <p:nvSpPr>
          <p:cNvPr id="6" name="object 6"/>
          <p:cNvSpPr txBox="1">
            <a:spLocks noGrp="1"/>
          </p:cNvSpPr>
          <p:nvPr>
            <p:ph type="body" idx="1"/>
          </p:nvPr>
        </p:nvSpPr>
        <p:spPr>
          <a:xfrm>
            <a:off x="638442" y="1231138"/>
            <a:ext cx="9391141" cy="4033411"/>
          </a:xfrm>
          <a:prstGeom prst="rect">
            <a:avLst/>
          </a:prstGeom>
        </p:spPr>
        <p:txBody>
          <a:bodyPr vert="horz" wrap="square" lIns="0" tIns="232409" rIns="0" bIns="0" rtlCol="0">
            <a:spAutoFit/>
          </a:bodyPr>
          <a:lstStyle/>
          <a:p>
            <a:pPr marL="469900">
              <a:lnSpc>
                <a:spcPts val="1620"/>
              </a:lnSpc>
              <a:spcBef>
                <a:spcPts val="100"/>
              </a:spcBef>
            </a:pPr>
            <a:r>
              <a:rPr lang="en-US" b="1" dirty="0"/>
              <a:t>Helmet Detection</a:t>
            </a:r>
            <a:r>
              <a:rPr lang="en-US" dirty="0"/>
              <a:t> –Detect whether the rider is wearing the helmet properly using an </a:t>
            </a:r>
            <a:r>
              <a:rPr lang="en-US" b="1" dirty="0"/>
              <a:t>IR sensor</a:t>
            </a:r>
            <a:r>
              <a:rPr lang="en-US" dirty="0"/>
              <a:t> before allowing the motorcycle to start.</a:t>
            </a:r>
          </a:p>
          <a:p>
            <a:pPr marL="469900">
              <a:lnSpc>
                <a:spcPts val="1620"/>
              </a:lnSpc>
              <a:spcBef>
                <a:spcPts val="100"/>
              </a:spcBef>
            </a:pPr>
            <a:endParaRPr lang="en-US" dirty="0">
              <a:latin typeface="Times New Roman"/>
              <a:cs typeface="Times New Roman"/>
            </a:endParaRPr>
          </a:p>
          <a:p>
            <a:pPr marL="469900">
              <a:lnSpc>
                <a:spcPts val="1620"/>
              </a:lnSpc>
              <a:spcBef>
                <a:spcPts val="100"/>
              </a:spcBef>
            </a:pPr>
            <a:r>
              <a:rPr lang="en-US" b="1" dirty="0"/>
              <a:t>Alert &amp; Status Display</a:t>
            </a:r>
            <a:r>
              <a:rPr lang="en-US" dirty="0"/>
              <a:t> –Provide real-time safety information through an </a:t>
            </a:r>
            <a:r>
              <a:rPr lang="en-US" b="1" dirty="0"/>
              <a:t>LCD 16×2</a:t>
            </a:r>
            <a:r>
              <a:rPr lang="en-US" dirty="0"/>
              <a:t>, while </a:t>
            </a:r>
            <a:r>
              <a:rPr lang="en-US" b="1" dirty="0"/>
              <a:t>buzzers and LEDs</a:t>
            </a:r>
            <a:r>
              <a:rPr lang="en-US" dirty="0"/>
              <a:t> generate warnings for conditions such as alcohol detection, drowsiness, or system disconnection.</a:t>
            </a:r>
          </a:p>
          <a:p>
            <a:pPr marL="469900">
              <a:lnSpc>
                <a:spcPts val="1620"/>
              </a:lnSpc>
              <a:spcBef>
                <a:spcPts val="100"/>
              </a:spcBef>
            </a:pPr>
            <a:endParaRPr lang="en-US" dirty="0">
              <a:latin typeface="Times New Roman"/>
              <a:cs typeface="Times New Roman"/>
            </a:endParaRPr>
          </a:p>
          <a:p>
            <a:pPr marL="469900">
              <a:lnSpc>
                <a:spcPts val="1620"/>
              </a:lnSpc>
              <a:spcBef>
                <a:spcPts val="100"/>
              </a:spcBef>
            </a:pPr>
            <a:r>
              <a:rPr lang="en-US" b="1" dirty="0"/>
              <a:t>Wireless Data Transmission</a:t>
            </a:r>
            <a:r>
              <a:rPr lang="en-US" dirty="0"/>
              <a:t> –</a:t>
            </a:r>
            <a:br>
              <a:rPr lang="en-US" dirty="0"/>
            </a:br>
            <a:r>
              <a:rPr lang="en-US" dirty="0"/>
              <a:t>Transmit helmet sensor data from the helmet unit to the motorcycle unit using </a:t>
            </a:r>
            <a:r>
              <a:rPr lang="en-US" b="1" dirty="0"/>
              <a:t>433 MHz RF communication</a:t>
            </a:r>
            <a:r>
              <a:rPr lang="en-US" dirty="0"/>
              <a:t>.</a:t>
            </a:r>
          </a:p>
          <a:p>
            <a:pPr marL="469900">
              <a:lnSpc>
                <a:spcPts val="1620"/>
              </a:lnSpc>
              <a:spcBef>
                <a:spcPts val="100"/>
              </a:spcBef>
            </a:pPr>
            <a:endParaRPr lang="en-US" dirty="0">
              <a:latin typeface="Times New Roman"/>
              <a:cs typeface="Times New Roman"/>
            </a:endParaRPr>
          </a:p>
          <a:p>
            <a:pPr marL="469900">
              <a:lnSpc>
                <a:spcPts val="1620"/>
              </a:lnSpc>
              <a:spcBef>
                <a:spcPts val="100"/>
              </a:spcBef>
            </a:pPr>
            <a:r>
              <a:rPr lang="en-US" b="1" dirty="0"/>
              <a:t>Drowsiness Detection</a:t>
            </a:r>
            <a:r>
              <a:rPr lang="en-US" dirty="0"/>
              <a:t> –</a:t>
            </a:r>
            <a:br>
              <a:rPr lang="en-US" dirty="0"/>
            </a:br>
            <a:r>
              <a:rPr lang="en-US" dirty="0"/>
              <a:t>Monitor the rider's eye blinking/closure using </a:t>
            </a:r>
            <a:r>
              <a:rPr lang="en-US" b="1" dirty="0"/>
              <a:t>IR eye sensors</a:t>
            </a:r>
            <a:r>
              <a:rPr lang="en-US" dirty="0"/>
              <a:t> and generate an alert when the eyes remain closed beyond a preset duration.</a:t>
            </a:r>
          </a:p>
          <a:p>
            <a:pPr marL="469900">
              <a:lnSpc>
                <a:spcPts val="1620"/>
              </a:lnSpc>
              <a:spcBef>
                <a:spcPts val="100"/>
              </a:spcBef>
            </a:pPr>
            <a:endParaRPr lang="en-US" dirty="0">
              <a:latin typeface="Times New Roman"/>
              <a:cs typeface="Times New Roman"/>
            </a:endParaRPr>
          </a:p>
          <a:p>
            <a:pPr marL="469900">
              <a:lnSpc>
                <a:spcPts val="1620"/>
              </a:lnSpc>
              <a:spcBef>
                <a:spcPts val="100"/>
              </a:spcBef>
            </a:pPr>
            <a:r>
              <a:rPr lang="en-US" b="1" dirty="0"/>
              <a:t>Alcohol Detection</a:t>
            </a:r>
            <a:r>
              <a:rPr lang="en-US" dirty="0"/>
              <a:t> –</a:t>
            </a:r>
            <a:br>
              <a:rPr lang="en-US" dirty="0"/>
            </a:br>
            <a:r>
              <a:rPr lang="en-US" dirty="0"/>
              <a:t>Measure alcohol levels from the rider's breath using the </a:t>
            </a:r>
            <a:r>
              <a:rPr lang="en-US" b="1" dirty="0"/>
              <a:t>MQ-3 alcohol sensor</a:t>
            </a:r>
            <a:r>
              <a:rPr lang="en-US" dirty="0"/>
              <a:t> and prevent ignition when the detected level exceeds the defined threshold</a:t>
            </a:r>
            <a:r>
              <a:rPr lang="en-US" sz="1600" dirty="0"/>
              <a:t>.</a:t>
            </a:r>
            <a:endParaRPr sz="1500" dirty="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37056" y="1331594"/>
            <a:ext cx="9356725" cy="429259"/>
            <a:chOff x="870106" y="1375747"/>
            <a:chExt cx="9356725" cy="429259"/>
          </a:xfrm>
        </p:grpSpPr>
        <p:sp>
          <p:nvSpPr>
            <p:cNvPr id="3" name="object 3"/>
            <p:cNvSpPr/>
            <p:nvPr/>
          </p:nvSpPr>
          <p:spPr>
            <a:xfrm>
              <a:off x="1074178" y="1622043"/>
              <a:ext cx="8970645" cy="0"/>
            </a:xfrm>
            <a:custGeom>
              <a:avLst/>
              <a:gdLst/>
              <a:ahLst/>
              <a:cxnLst/>
              <a:rect l="l" t="t" r="r" b="b"/>
              <a:pathLst>
                <a:path w="8970645">
                  <a:moveTo>
                    <a:pt x="0" y="0"/>
                  </a:moveTo>
                  <a:lnTo>
                    <a:pt x="8970251" y="0"/>
                  </a:lnTo>
                </a:path>
              </a:pathLst>
            </a:custGeom>
            <a:ln w="9525">
              <a:solidFill>
                <a:srgbClr val="7E7E7E"/>
              </a:solidFill>
            </a:ln>
          </p:spPr>
          <p:txBody>
            <a:bodyPr wrap="square" lIns="0" tIns="0" rIns="0" bIns="0" rtlCol="0"/>
            <a:lstStyle/>
            <a:p>
              <a:endParaRPr/>
            </a:p>
          </p:txBody>
        </p:sp>
        <p:pic>
          <p:nvPicPr>
            <p:cNvPr id="4" name="object 4"/>
            <p:cNvPicPr/>
            <p:nvPr/>
          </p:nvPicPr>
          <p:blipFill>
            <a:blip r:embed="rId2" cstate="print"/>
            <a:stretch>
              <a:fillRect/>
            </a:stretch>
          </p:blipFill>
          <p:spPr>
            <a:xfrm>
              <a:off x="870106" y="1375747"/>
              <a:ext cx="9356356" cy="429260"/>
            </a:xfrm>
            <a:prstGeom prst="rect">
              <a:avLst/>
            </a:prstGeom>
          </p:spPr>
        </p:pic>
      </p:grpSp>
      <p:sp>
        <p:nvSpPr>
          <p:cNvPr id="5" name="object 5" descr="$PPTXTitle"/>
          <p:cNvSpPr txBox="1">
            <a:spLocks noGrp="1"/>
          </p:cNvSpPr>
          <p:nvPr>
            <p:ph type="title"/>
          </p:nvPr>
        </p:nvSpPr>
        <p:spPr>
          <a:prstGeom prst="rect">
            <a:avLst/>
          </a:prstGeom>
        </p:spPr>
        <p:txBody>
          <a:bodyPr vert="horz" wrap="square" lIns="0" tIns="280288" rIns="0" bIns="0" rtlCol="0">
            <a:spAutoFit/>
          </a:bodyPr>
          <a:lstStyle/>
          <a:p>
            <a:pPr marL="3063875">
              <a:lnSpc>
                <a:spcPct val="100000"/>
              </a:lnSpc>
              <a:spcBef>
                <a:spcPts val="105"/>
              </a:spcBef>
            </a:pPr>
            <a:r>
              <a:rPr spc="-10" dirty="0"/>
              <a:t>Complexity</a:t>
            </a:r>
          </a:p>
        </p:txBody>
      </p:sp>
      <p:sp>
        <p:nvSpPr>
          <p:cNvPr id="7" name="object 7"/>
          <p:cNvSpPr txBox="1">
            <a:spLocks noGrp="1"/>
          </p:cNvSpPr>
          <p:nvPr>
            <p:ph type="ftr" sz="quarter" idx="5"/>
          </p:nvPr>
        </p:nvSpPr>
        <p:spPr>
          <a:xfrm>
            <a:off x="403352" y="5983538"/>
            <a:ext cx="5957366" cy="285240"/>
          </a:xfrm>
          <a:prstGeom prst="rect">
            <a:avLst/>
          </a:prstGeom>
        </p:spPr>
        <p:txBody>
          <a:bodyPr vert="horz" wrap="square" lIns="0" tIns="79281" rIns="0" bIns="0" rtlCol="0">
            <a:spAutoFit/>
          </a:bodyPr>
          <a:lstStyle/>
          <a:p>
            <a:pPr marL="327025">
              <a:lnSpc>
                <a:spcPts val="1630"/>
              </a:lnSpc>
            </a:pPr>
            <a:r>
              <a:rPr lang="en-US" spc="-10" dirty="0"/>
              <a:t>Smart </a:t>
            </a:r>
            <a:r>
              <a:rPr lang="en-US" spc="-10" dirty="0" err="1"/>
              <a:t>Sheild</a:t>
            </a:r>
            <a:r>
              <a:rPr lang="en-US" spc="-10" dirty="0"/>
              <a:t>  AI </a:t>
            </a:r>
            <a:r>
              <a:rPr lang="en-US" spc="-10" dirty="0" err="1"/>
              <a:t>enabeled</a:t>
            </a:r>
            <a:r>
              <a:rPr lang="en-US" spc="-10" dirty="0"/>
              <a:t> helmet </a:t>
            </a:r>
          </a:p>
        </p:txBody>
      </p:sp>
      <p:sp>
        <p:nvSpPr>
          <p:cNvPr id="6" name="object 6"/>
          <p:cNvSpPr txBox="1">
            <a:spLocks noGrp="1"/>
          </p:cNvSpPr>
          <p:nvPr>
            <p:ph type="body" idx="1"/>
          </p:nvPr>
        </p:nvSpPr>
        <p:spPr>
          <a:xfrm>
            <a:off x="609600" y="1383821"/>
            <a:ext cx="9512663" cy="4118230"/>
          </a:xfrm>
          <a:prstGeom prst="rect">
            <a:avLst/>
          </a:prstGeom>
        </p:spPr>
        <p:txBody>
          <a:bodyPr vert="horz" wrap="square" lIns="0" tIns="278562" rIns="0" bIns="0" rtlCol="0">
            <a:spAutoFit/>
          </a:bodyPr>
          <a:lstStyle/>
          <a:p>
            <a:pPr marL="469900" marR="581660">
              <a:lnSpc>
                <a:spcPct val="80000"/>
              </a:lnSpc>
              <a:spcBef>
                <a:spcPts val="530"/>
              </a:spcBef>
            </a:pPr>
            <a:r>
              <a:rPr lang="en-US" b="1" dirty="0"/>
              <a:t>Sensor Integration Complexity:</a:t>
            </a:r>
            <a:r>
              <a:rPr lang="en-US" dirty="0"/>
              <a:t> Integrating multiple sensors such as </a:t>
            </a:r>
            <a:r>
              <a:rPr lang="en-US" b="1" dirty="0"/>
              <a:t>IR, MQ-3, accelerometer, GPS, and GSM</a:t>
            </a:r>
            <a:r>
              <a:rPr lang="en-US" dirty="0"/>
              <a:t> with Arduino while ensuring reliable communication.</a:t>
            </a:r>
          </a:p>
          <a:p>
            <a:pPr marL="469900" marR="581660">
              <a:lnSpc>
                <a:spcPct val="80000"/>
              </a:lnSpc>
              <a:spcBef>
                <a:spcPts val="530"/>
              </a:spcBef>
            </a:pPr>
            <a:endParaRPr lang="en-US" spc="-10" dirty="0"/>
          </a:p>
          <a:p>
            <a:pPr marL="469900" marR="581660">
              <a:lnSpc>
                <a:spcPct val="80000"/>
              </a:lnSpc>
              <a:spcBef>
                <a:spcPts val="530"/>
              </a:spcBef>
            </a:pPr>
            <a:r>
              <a:rPr lang="en-US" b="1" dirty="0"/>
              <a:t>Helmet Detection Complexity:</a:t>
            </a:r>
            <a:r>
              <a:rPr lang="en-US" dirty="0"/>
              <a:t> Accurately determining whether the helmet is properly worn and preventing false detection during different riding conditions.</a:t>
            </a:r>
          </a:p>
          <a:p>
            <a:pPr marL="469900" marR="581660">
              <a:lnSpc>
                <a:spcPct val="80000"/>
              </a:lnSpc>
              <a:spcBef>
                <a:spcPts val="530"/>
              </a:spcBef>
            </a:pPr>
            <a:endParaRPr lang="en-US" spc="-10" dirty="0"/>
          </a:p>
          <a:p>
            <a:pPr marL="469900" marR="581660">
              <a:lnSpc>
                <a:spcPct val="80000"/>
              </a:lnSpc>
              <a:spcBef>
                <a:spcPts val="530"/>
              </a:spcBef>
            </a:pPr>
            <a:r>
              <a:rPr lang="en-US" b="1" dirty="0"/>
              <a:t>Wireless Communication Complexity:</a:t>
            </a:r>
            <a:r>
              <a:rPr lang="en-US" dirty="0"/>
              <a:t> Maintaining reliable </a:t>
            </a:r>
            <a:r>
              <a:rPr lang="en-US" b="1" dirty="0"/>
              <a:t>433 MHz RF communication</a:t>
            </a:r>
            <a:r>
              <a:rPr lang="en-US" dirty="0"/>
              <a:t> between the helmet unit and motorcycle unit and detecting communication failure.</a:t>
            </a:r>
          </a:p>
          <a:p>
            <a:pPr marL="469900" marR="581660">
              <a:lnSpc>
                <a:spcPct val="80000"/>
              </a:lnSpc>
              <a:spcBef>
                <a:spcPts val="530"/>
              </a:spcBef>
            </a:pPr>
            <a:endParaRPr lang="en-US" spc="-10" dirty="0"/>
          </a:p>
          <a:p>
            <a:pPr marL="469900" marR="581660">
              <a:lnSpc>
                <a:spcPct val="80000"/>
              </a:lnSpc>
              <a:spcBef>
                <a:spcPts val="530"/>
              </a:spcBef>
            </a:pPr>
            <a:r>
              <a:rPr lang="en-US" b="1" dirty="0"/>
              <a:t>Real-Time Safety Control:</a:t>
            </a:r>
            <a:r>
              <a:rPr lang="en-US" dirty="0"/>
              <a:t> Processing sensor data continuously to make timely decisions regarding </a:t>
            </a:r>
            <a:r>
              <a:rPr lang="en-US" b="1" dirty="0"/>
              <a:t>ignition control, warnings, and emergency alerts</a:t>
            </a:r>
            <a:r>
              <a:rPr lang="en-US" dirty="0"/>
              <a:t>.</a:t>
            </a:r>
          </a:p>
          <a:p>
            <a:pPr marL="469900" marR="581660">
              <a:lnSpc>
                <a:spcPct val="80000"/>
              </a:lnSpc>
              <a:spcBef>
                <a:spcPts val="530"/>
              </a:spcBef>
            </a:pPr>
            <a:endParaRPr lang="en-US" spc="-10" dirty="0"/>
          </a:p>
          <a:p>
            <a:pPr marL="469900" marR="581660">
              <a:lnSpc>
                <a:spcPct val="80000"/>
              </a:lnSpc>
              <a:spcBef>
                <a:spcPts val="530"/>
              </a:spcBef>
            </a:pPr>
            <a:r>
              <a:rPr lang="en-US" b="1" dirty="0"/>
              <a:t>System Integration Complexity:</a:t>
            </a:r>
            <a:r>
              <a:rPr lang="en-US" dirty="0"/>
              <a:t> Combining sensing, wireless communication, ignition control, alerts, GPS, and GSM modules into one reliable safety system.</a:t>
            </a:r>
            <a:endParaRPr spc="-1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74178" y="1622044"/>
            <a:ext cx="8970645" cy="0"/>
          </a:xfrm>
          <a:custGeom>
            <a:avLst/>
            <a:gdLst/>
            <a:ahLst/>
            <a:cxnLst/>
            <a:rect l="l" t="t" r="r" b="b"/>
            <a:pathLst>
              <a:path w="8970645">
                <a:moveTo>
                  <a:pt x="0" y="0"/>
                </a:moveTo>
                <a:lnTo>
                  <a:pt x="8970251" y="0"/>
                </a:lnTo>
              </a:path>
            </a:pathLst>
          </a:custGeom>
          <a:ln w="9525">
            <a:solidFill>
              <a:srgbClr val="7E7E7E"/>
            </a:solidFill>
          </a:ln>
        </p:spPr>
        <p:txBody>
          <a:bodyPr wrap="square" lIns="0" tIns="0" rIns="0" bIns="0" rtlCol="0"/>
          <a:lstStyle/>
          <a:p>
            <a:endParaRPr/>
          </a:p>
        </p:txBody>
      </p:sp>
      <p:sp>
        <p:nvSpPr>
          <p:cNvPr id="3" name="object 3" descr="$PPTXTitle"/>
          <p:cNvSpPr txBox="1">
            <a:spLocks noGrp="1"/>
          </p:cNvSpPr>
          <p:nvPr>
            <p:ph type="title"/>
          </p:nvPr>
        </p:nvSpPr>
        <p:spPr>
          <a:prstGeom prst="rect">
            <a:avLst/>
          </a:prstGeom>
        </p:spPr>
        <p:txBody>
          <a:bodyPr vert="horz" wrap="square" lIns="0" tIns="269621" rIns="0" bIns="0" rtlCol="0">
            <a:spAutoFit/>
          </a:bodyPr>
          <a:lstStyle/>
          <a:p>
            <a:pPr marL="2187575">
              <a:lnSpc>
                <a:spcPct val="100000"/>
              </a:lnSpc>
              <a:spcBef>
                <a:spcPts val="105"/>
              </a:spcBef>
            </a:pPr>
            <a:r>
              <a:rPr dirty="0"/>
              <a:t>Expected</a:t>
            </a:r>
            <a:r>
              <a:rPr spc="-60" dirty="0"/>
              <a:t> </a:t>
            </a:r>
            <a:r>
              <a:rPr spc="-10" dirty="0"/>
              <a:t>Outcome</a:t>
            </a:r>
          </a:p>
        </p:txBody>
      </p:sp>
      <p:sp>
        <p:nvSpPr>
          <p:cNvPr id="4" name="object 4"/>
          <p:cNvSpPr txBox="1"/>
          <p:nvPr/>
        </p:nvSpPr>
        <p:spPr>
          <a:xfrm>
            <a:off x="919860" y="1750313"/>
            <a:ext cx="9367140" cy="4090222"/>
          </a:xfrm>
          <a:prstGeom prst="rect">
            <a:avLst/>
          </a:prstGeom>
        </p:spPr>
        <p:txBody>
          <a:bodyPr vert="horz" wrap="square" lIns="0" tIns="123825" rIns="0" bIns="0" rtlCol="0">
            <a:spAutoFit/>
          </a:bodyPr>
          <a:lstStyle/>
          <a:p>
            <a:pPr marL="12700">
              <a:lnSpc>
                <a:spcPct val="100000"/>
              </a:lnSpc>
              <a:spcBef>
                <a:spcPts val="975"/>
              </a:spcBef>
            </a:pPr>
            <a:r>
              <a:rPr lang="en-US" b="1" dirty="0">
                <a:latin typeface="Times New Roman" panose="02020603050405020304" pitchFamily="18" charset="0"/>
                <a:cs typeface="Times New Roman" panose="02020603050405020304" pitchFamily="18" charset="0"/>
              </a:rPr>
              <a:t>Automatic Helmet Detection</a:t>
            </a:r>
            <a:r>
              <a:rPr lang="en-US" dirty="0">
                <a:latin typeface="Times New Roman" panose="02020603050405020304" pitchFamily="18" charset="0"/>
                <a:cs typeface="Times New Roman" panose="02020603050405020304" pitchFamily="18" charset="0"/>
              </a:rPr>
              <a:t> using IR sensors to verify whether the rider is wearing the helmet before the motorcycle can start.</a:t>
            </a:r>
          </a:p>
          <a:p>
            <a:pPr marL="12700">
              <a:lnSpc>
                <a:spcPct val="100000"/>
              </a:lnSpc>
              <a:spcBef>
                <a:spcPts val="975"/>
              </a:spcBef>
            </a:pPr>
            <a:r>
              <a:rPr lang="en-US" b="1" dirty="0">
                <a:latin typeface="Times New Roman" panose="02020603050405020304" pitchFamily="18" charset="0"/>
                <a:cs typeface="Times New Roman" panose="02020603050405020304" pitchFamily="18" charset="0"/>
              </a:rPr>
              <a:t>Alcohol Detection &amp; Ignition Lock</a:t>
            </a:r>
            <a:r>
              <a:rPr lang="en-US" dirty="0">
                <a:latin typeface="Times New Roman" panose="02020603050405020304" pitchFamily="18" charset="0"/>
                <a:cs typeface="Times New Roman" panose="02020603050405020304" pitchFamily="18" charset="0"/>
              </a:rPr>
              <a:t> to prevent motorcycle operation when alcohol is detected above the defined threshold.</a:t>
            </a:r>
          </a:p>
          <a:p>
            <a:pPr marL="12700">
              <a:lnSpc>
                <a:spcPct val="100000"/>
              </a:lnSpc>
              <a:spcBef>
                <a:spcPts val="975"/>
              </a:spcBef>
            </a:pPr>
            <a:r>
              <a:rPr lang="en-US" b="1" dirty="0">
                <a:latin typeface="Times New Roman" panose="02020603050405020304" pitchFamily="18" charset="0"/>
                <a:cs typeface="Times New Roman" panose="02020603050405020304" pitchFamily="18" charset="0"/>
              </a:rPr>
              <a:t>Drowsiness Detection</a:t>
            </a:r>
            <a:r>
              <a:rPr lang="en-US" dirty="0">
                <a:latin typeface="Times New Roman" panose="02020603050405020304" pitchFamily="18" charset="0"/>
                <a:cs typeface="Times New Roman" panose="02020603050405020304" pitchFamily="18" charset="0"/>
              </a:rPr>
              <a:t> through IR-based eye monitoring, with alerts generated when prolonged eye closure is detected.</a:t>
            </a:r>
          </a:p>
          <a:p>
            <a:pPr marL="12700">
              <a:lnSpc>
                <a:spcPct val="100000"/>
              </a:lnSpc>
              <a:spcBef>
                <a:spcPts val="975"/>
              </a:spcBef>
            </a:pPr>
            <a:r>
              <a:rPr lang="en-US" b="1" dirty="0">
                <a:latin typeface="Times New Roman" panose="02020603050405020304" pitchFamily="18" charset="0"/>
                <a:cs typeface="Times New Roman" panose="02020603050405020304" pitchFamily="18" charset="0"/>
              </a:rPr>
              <a:t>Automatic Accident Detection</a:t>
            </a:r>
            <a:r>
              <a:rPr lang="en-US" dirty="0">
                <a:latin typeface="Times New Roman" panose="02020603050405020304" pitchFamily="18" charset="0"/>
                <a:cs typeface="Times New Roman" panose="02020603050405020304" pitchFamily="18" charset="0"/>
              </a:rPr>
              <a:t> using an accelerometer to identify sudden impacts and trigger the emergency response mechanism.</a:t>
            </a:r>
          </a:p>
          <a:p>
            <a:pPr marL="12700">
              <a:lnSpc>
                <a:spcPct val="100000"/>
              </a:lnSpc>
              <a:spcBef>
                <a:spcPts val="975"/>
              </a:spcBef>
            </a:pPr>
            <a:r>
              <a:rPr lang="en-US" b="1" dirty="0">
                <a:latin typeface="Times New Roman" panose="02020603050405020304" pitchFamily="18" charset="0"/>
                <a:cs typeface="Times New Roman" panose="02020603050405020304" pitchFamily="18" charset="0"/>
              </a:rPr>
              <a:t>Real-Time Emergency Location Sharing</a:t>
            </a:r>
            <a:r>
              <a:rPr lang="en-US" dirty="0">
                <a:latin typeface="Times New Roman" panose="02020603050405020304" pitchFamily="18" charset="0"/>
                <a:cs typeface="Times New Roman" panose="02020603050405020304" pitchFamily="18" charset="0"/>
              </a:rPr>
              <a:t> using GPS to obtain accident coordinates and GSM to send the location through SMS to predefined contacts.</a:t>
            </a:r>
          </a:p>
          <a:p>
            <a:pPr marL="12700">
              <a:lnSpc>
                <a:spcPct val="100000"/>
              </a:lnSpc>
              <a:spcBef>
                <a:spcPts val="975"/>
              </a:spcBef>
            </a:pPr>
            <a:r>
              <a:rPr lang="en-US" b="1" dirty="0">
                <a:latin typeface="Times New Roman" panose="02020603050405020304" pitchFamily="18" charset="0"/>
                <a:cs typeface="Times New Roman" panose="02020603050405020304" pitchFamily="18" charset="0"/>
              </a:rPr>
              <a:t>Automatic Motorcycle Ignition Control</a:t>
            </a:r>
            <a:r>
              <a:rPr lang="en-US" dirty="0">
                <a:latin typeface="Times New Roman" panose="02020603050405020304" pitchFamily="18" charset="0"/>
                <a:cs typeface="Times New Roman" panose="02020603050405020304" pitchFamily="18" charset="0"/>
              </a:rPr>
              <a:t> ensuring that the motorcycle starts only when the helmet is worn, alcohol is not detected, and wireless communication is active.</a:t>
            </a:r>
            <a:endParaRPr sz="1800" dirty="0">
              <a:latin typeface="Times New Roman" panose="02020603050405020304" pitchFamily="18" charset="0"/>
              <a:cs typeface="Times New Roman" panose="02020603050405020304" pitchFamily="18" charset="0"/>
            </a:endParaRPr>
          </a:p>
        </p:txBody>
      </p:sp>
      <p:sp>
        <p:nvSpPr>
          <p:cNvPr id="6" name="object 6"/>
          <p:cNvSpPr txBox="1">
            <a:spLocks noGrp="1"/>
          </p:cNvSpPr>
          <p:nvPr>
            <p:ph type="ftr" sz="quarter" idx="5"/>
          </p:nvPr>
        </p:nvSpPr>
        <p:spPr>
          <a:xfrm>
            <a:off x="403352" y="5983538"/>
            <a:ext cx="5957366" cy="363723"/>
          </a:xfrm>
          <a:prstGeom prst="rect">
            <a:avLst/>
          </a:prstGeom>
        </p:spPr>
        <p:txBody>
          <a:bodyPr vert="horz" wrap="square" lIns="0" tIns="157005" rIns="0" bIns="0" rtlCol="0">
            <a:spAutoFit/>
          </a:bodyPr>
          <a:lstStyle/>
          <a:p>
            <a:pPr marL="327025">
              <a:lnSpc>
                <a:spcPts val="1630"/>
              </a:lnSpc>
            </a:pPr>
            <a:r>
              <a:rPr lang="en-US" spc="-10" dirty="0"/>
              <a:t>Smart </a:t>
            </a:r>
            <a:r>
              <a:rPr lang="en-US" spc="-10" dirty="0" err="1"/>
              <a:t>Sheild</a:t>
            </a:r>
            <a:r>
              <a:rPr lang="en-US" spc="-10" dirty="0"/>
              <a:t>  AI </a:t>
            </a:r>
            <a:r>
              <a:rPr lang="en-US" spc="-10" dirty="0" err="1"/>
              <a:t>enabeled</a:t>
            </a:r>
            <a:r>
              <a:rPr lang="en-US" spc="-10" dirty="0"/>
              <a:t> helmet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09065" y="1180083"/>
            <a:ext cx="9700895" cy="614045"/>
            <a:chOff x="709065" y="1180083"/>
            <a:chExt cx="9700895" cy="614045"/>
          </a:xfrm>
        </p:grpSpPr>
        <p:sp>
          <p:nvSpPr>
            <p:cNvPr id="3" name="object 3"/>
            <p:cNvSpPr/>
            <p:nvPr/>
          </p:nvSpPr>
          <p:spPr>
            <a:xfrm>
              <a:off x="1074178" y="1622043"/>
              <a:ext cx="8970645" cy="0"/>
            </a:xfrm>
            <a:custGeom>
              <a:avLst/>
              <a:gdLst/>
              <a:ahLst/>
              <a:cxnLst/>
              <a:rect l="l" t="t" r="r" b="b"/>
              <a:pathLst>
                <a:path w="8970645">
                  <a:moveTo>
                    <a:pt x="0" y="0"/>
                  </a:moveTo>
                  <a:lnTo>
                    <a:pt x="8970251" y="0"/>
                  </a:lnTo>
                </a:path>
              </a:pathLst>
            </a:custGeom>
            <a:ln w="9525">
              <a:solidFill>
                <a:srgbClr val="7E7E7E"/>
              </a:solidFill>
            </a:ln>
          </p:spPr>
          <p:txBody>
            <a:bodyPr wrap="square" lIns="0" tIns="0" rIns="0" bIns="0" rtlCol="0"/>
            <a:lstStyle/>
            <a:p>
              <a:endParaRPr/>
            </a:p>
          </p:txBody>
        </p:sp>
        <p:pic>
          <p:nvPicPr>
            <p:cNvPr id="4" name="object 4"/>
            <p:cNvPicPr/>
            <p:nvPr/>
          </p:nvPicPr>
          <p:blipFill>
            <a:blip r:embed="rId2" cstate="print"/>
            <a:stretch>
              <a:fillRect/>
            </a:stretch>
          </p:blipFill>
          <p:spPr>
            <a:xfrm>
              <a:off x="709065" y="1180083"/>
              <a:ext cx="9700330" cy="613791"/>
            </a:xfrm>
            <a:prstGeom prst="rect">
              <a:avLst/>
            </a:prstGeom>
          </p:spPr>
        </p:pic>
      </p:grpSp>
      <p:sp>
        <p:nvSpPr>
          <p:cNvPr id="5" name="object 5" descr="$PPTXTitle"/>
          <p:cNvSpPr txBox="1">
            <a:spLocks noGrp="1"/>
          </p:cNvSpPr>
          <p:nvPr>
            <p:ph type="title"/>
          </p:nvPr>
        </p:nvSpPr>
        <p:spPr>
          <a:prstGeom prst="rect">
            <a:avLst/>
          </a:prstGeom>
        </p:spPr>
        <p:txBody>
          <a:bodyPr vert="horz" wrap="square" lIns="0" tIns="280288" rIns="0" bIns="0" rtlCol="0">
            <a:spAutoFit/>
          </a:bodyPr>
          <a:lstStyle/>
          <a:p>
            <a:pPr marL="899794">
              <a:lnSpc>
                <a:spcPct val="100000"/>
              </a:lnSpc>
              <a:spcBef>
                <a:spcPts val="105"/>
              </a:spcBef>
            </a:pPr>
            <a:r>
              <a:rPr dirty="0"/>
              <a:t>Relevance</a:t>
            </a:r>
            <a:r>
              <a:rPr spc="-55" dirty="0"/>
              <a:t> </a:t>
            </a:r>
            <a:r>
              <a:rPr dirty="0"/>
              <a:t>to the</a:t>
            </a:r>
            <a:r>
              <a:rPr spc="-15" dirty="0"/>
              <a:t> </a:t>
            </a:r>
            <a:r>
              <a:rPr spc="-10" dirty="0"/>
              <a:t>environment</a:t>
            </a:r>
          </a:p>
        </p:txBody>
      </p:sp>
      <p:sp>
        <p:nvSpPr>
          <p:cNvPr id="7" name="object 7"/>
          <p:cNvSpPr txBox="1">
            <a:spLocks noGrp="1"/>
          </p:cNvSpPr>
          <p:nvPr>
            <p:ph type="ftr" sz="quarter" idx="5"/>
          </p:nvPr>
        </p:nvSpPr>
        <p:spPr>
          <a:xfrm>
            <a:off x="403352" y="5983538"/>
            <a:ext cx="5957366" cy="272005"/>
          </a:xfrm>
          <a:prstGeom prst="rect">
            <a:avLst/>
          </a:prstGeom>
        </p:spPr>
        <p:txBody>
          <a:bodyPr vert="horz" wrap="square" lIns="0" tIns="66174" rIns="0" bIns="0" rtlCol="0">
            <a:spAutoFit/>
          </a:bodyPr>
          <a:lstStyle/>
          <a:p>
            <a:pPr marL="327025">
              <a:lnSpc>
                <a:spcPts val="1630"/>
              </a:lnSpc>
            </a:pPr>
            <a:r>
              <a:rPr lang="en-US" spc="-10" dirty="0"/>
              <a:t>Smart </a:t>
            </a:r>
            <a:r>
              <a:rPr lang="en-US" spc="-10" dirty="0" err="1"/>
              <a:t>Sheild</a:t>
            </a:r>
            <a:r>
              <a:rPr lang="en-US" spc="-10" dirty="0"/>
              <a:t>  AI </a:t>
            </a:r>
            <a:r>
              <a:rPr lang="en-US" spc="-10" dirty="0" err="1"/>
              <a:t>enabeled</a:t>
            </a:r>
            <a:r>
              <a:rPr lang="en-US" spc="-10" dirty="0"/>
              <a:t> helmet </a:t>
            </a:r>
          </a:p>
        </p:txBody>
      </p:sp>
      <p:sp>
        <p:nvSpPr>
          <p:cNvPr id="6" name="object 6"/>
          <p:cNvSpPr txBox="1">
            <a:spLocks noGrp="1"/>
          </p:cNvSpPr>
          <p:nvPr>
            <p:ph type="body" idx="1"/>
          </p:nvPr>
        </p:nvSpPr>
        <p:spPr>
          <a:xfrm>
            <a:off x="709066" y="1622882"/>
            <a:ext cx="9346922" cy="3606679"/>
          </a:xfrm>
          <a:prstGeom prst="rect">
            <a:avLst/>
          </a:prstGeom>
        </p:spPr>
        <p:txBody>
          <a:bodyPr vert="horz" wrap="square" lIns="0" tIns="282498" rIns="0" bIns="0" rtlCol="0">
            <a:spAutoFit/>
          </a:bodyPr>
          <a:lstStyle/>
          <a:p>
            <a:pPr marL="469900" marR="634365">
              <a:lnSpc>
                <a:spcPts val="1939"/>
              </a:lnSpc>
              <a:spcBef>
                <a:spcPts val="345"/>
              </a:spcBef>
            </a:pPr>
            <a:r>
              <a:rPr lang="en-US" b="1" dirty="0">
                <a:latin typeface="Times New Roman" panose="02020603050405020304" pitchFamily="18" charset="0"/>
                <a:cs typeface="Times New Roman" panose="02020603050405020304" pitchFamily="18" charset="0"/>
              </a:rPr>
              <a:t>Efficient Resource Usage:</a:t>
            </a:r>
            <a:r>
              <a:rPr lang="en-US" dirty="0">
                <a:latin typeface="Times New Roman" panose="02020603050405020304" pitchFamily="18" charset="0"/>
                <a:cs typeface="Times New Roman" panose="02020603050405020304" pitchFamily="18" charset="0"/>
              </a:rPr>
              <a:t> Automated monitoring of helmet status, alcohol, drowsiness, and accidents reduces repetitive manual safety checks.</a:t>
            </a:r>
          </a:p>
          <a:p>
            <a:pPr marL="469900" marR="634365">
              <a:lnSpc>
                <a:spcPts val="1939"/>
              </a:lnSpc>
              <a:spcBef>
                <a:spcPts val="345"/>
              </a:spcBef>
            </a:pPr>
            <a:r>
              <a:rPr lang="en-US" b="1" dirty="0">
                <a:latin typeface="Times New Roman" panose="02020603050405020304" pitchFamily="18" charset="0"/>
                <a:cs typeface="Times New Roman" panose="02020603050405020304" pitchFamily="18" charset="0"/>
              </a:rPr>
              <a:t>Low Physical Resource Requirement:</a:t>
            </a:r>
            <a:r>
              <a:rPr lang="en-US" dirty="0">
                <a:latin typeface="Times New Roman" panose="02020603050405020304" pitchFamily="18" charset="0"/>
                <a:cs typeface="Times New Roman" panose="02020603050405020304" pitchFamily="18" charset="0"/>
              </a:rPr>
              <a:t> The project uses compact electronic components such as </a:t>
            </a:r>
            <a:r>
              <a:rPr lang="en-US" b="1" dirty="0">
                <a:latin typeface="Times New Roman" panose="02020603050405020304" pitchFamily="18" charset="0"/>
                <a:cs typeface="Times New Roman" panose="02020603050405020304" pitchFamily="18" charset="0"/>
              </a:rPr>
              <a:t>Arduino, sensors, RF, GPS, and GSM modules</a:t>
            </a:r>
            <a:r>
              <a:rPr lang="en-US" dirty="0">
                <a:latin typeface="Times New Roman" panose="02020603050405020304" pitchFamily="18" charset="0"/>
                <a:cs typeface="Times New Roman" panose="02020603050405020304" pitchFamily="18" charset="0"/>
              </a:rPr>
              <a:t>, requiring relatively little physical infrastructure.</a:t>
            </a:r>
          </a:p>
          <a:p>
            <a:pPr marL="469900" marR="634365">
              <a:lnSpc>
                <a:spcPts val="1939"/>
              </a:lnSpc>
              <a:spcBef>
                <a:spcPts val="345"/>
              </a:spcBef>
            </a:pPr>
            <a:r>
              <a:rPr lang="en-US" b="1" dirty="0">
                <a:latin typeface="Times New Roman" panose="02020603050405020304" pitchFamily="18" charset="0"/>
                <a:cs typeface="Times New Roman" panose="02020603050405020304" pitchFamily="18" charset="0"/>
              </a:rPr>
              <a:t>Energy-Efficient Embedded System:</a:t>
            </a:r>
            <a:r>
              <a:rPr lang="en-US" dirty="0">
                <a:latin typeface="Times New Roman" panose="02020603050405020304" pitchFamily="18" charset="0"/>
                <a:cs typeface="Times New Roman" panose="02020603050405020304" pitchFamily="18" charset="0"/>
              </a:rPr>
              <a:t> The system is designed around low-power embedded components and a battery-powered helmet unit, making it suitable for portable operation. </a:t>
            </a:r>
          </a:p>
          <a:p>
            <a:pPr marL="469900" marR="634365">
              <a:lnSpc>
                <a:spcPts val="1939"/>
              </a:lnSpc>
              <a:spcBef>
                <a:spcPts val="345"/>
              </a:spcBef>
            </a:pPr>
            <a:r>
              <a:rPr lang="en-US" b="1" dirty="0">
                <a:latin typeface="Times New Roman" panose="02020603050405020304" pitchFamily="18" charset="0"/>
                <a:cs typeface="Times New Roman" panose="02020603050405020304" pitchFamily="18" charset="0"/>
              </a:rPr>
              <a:t>Digital Safety Monitoring:</a:t>
            </a:r>
            <a:r>
              <a:rPr lang="en-US" dirty="0">
                <a:latin typeface="Times New Roman" panose="02020603050405020304" pitchFamily="18" charset="0"/>
                <a:cs typeface="Times New Roman" panose="02020603050405020304" pitchFamily="18" charset="0"/>
              </a:rPr>
              <a:t> Wireless communication and automatic SMS alerts reduce dependence on physical intervention during emergencies.</a:t>
            </a:r>
          </a:p>
          <a:p>
            <a:pPr marL="469900" marR="634365">
              <a:lnSpc>
                <a:spcPts val="1939"/>
              </a:lnSpc>
              <a:spcBef>
                <a:spcPts val="345"/>
              </a:spcBef>
            </a:pPr>
            <a:r>
              <a:rPr lang="en-US" b="1" dirty="0">
                <a:latin typeface="Times New Roman" panose="02020603050405020304" pitchFamily="18" charset="0"/>
                <a:cs typeface="Times New Roman" panose="02020603050405020304" pitchFamily="18" charset="0"/>
              </a:rPr>
              <a:t>Sustainable Smart Transportation:</a:t>
            </a:r>
            <a:r>
              <a:rPr lang="en-US" dirty="0">
                <a:latin typeface="Times New Roman" panose="02020603050405020304" pitchFamily="18" charset="0"/>
                <a:cs typeface="Times New Roman" panose="02020603050405020304" pitchFamily="18" charset="0"/>
              </a:rPr>
              <a:t> The project supports the broader concept of </a:t>
            </a:r>
            <a:r>
              <a:rPr lang="en-US" b="1" dirty="0">
                <a:latin typeface="Times New Roman" panose="02020603050405020304" pitchFamily="18" charset="0"/>
                <a:cs typeface="Times New Roman" panose="02020603050405020304" pitchFamily="18" charset="0"/>
              </a:rPr>
              <a:t>smart and safer transportation</a:t>
            </a:r>
            <a:r>
              <a:rPr lang="en-US" dirty="0">
                <a:latin typeface="Times New Roman" panose="02020603050405020304" pitchFamily="18" charset="0"/>
                <a:cs typeface="Times New Roman" panose="02020603050405020304" pitchFamily="18" charset="0"/>
              </a:rPr>
              <a:t> by integrating embedded technology and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-based communication into motorcycles. </a:t>
            </a:r>
            <a:endParaRPr spc="-1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4" y="5912027"/>
            <a:ext cx="10972800" cy="488950"/>
            <a:chOff x="14" y="5912027"/>
            <a:chExt cx="10972800" cy="488950"/>
          </a:xfrm>
        </p:grpSpPr>
        <p:sp>
          <p:nvSpPr>
            <p:cNvPr id="3" name="object 3"/>
            <p:cNvSpPr/>
            <p:nvPr/>
          </p:nvSpPr>
          <p:spPr>
            <a:xfrm>
              <a:off x="2858" y="5974079"/>
              <a:ext cx="10970260" cy="426720"/>
            </a:xfrm>
            <a:custGeom>
              <a:avLst/>
              <a:gdLst/>
              <a:ahLst/>
              <a:cxnLst/>
              <a:rect l="l" t="t" r="r" b="b"/>
              <a:pathLst>
                <a:path w="10970260" h="426720">
                  <a:moveTo>
                    <a:pt x="10969879" y="0"/>
                  </a:moveTo>
                  <a:lnTo>
                    <a:pt x="0" y="0"/>
                  </a:lnTo>
                  <a:lnTo>
                    <a:pt x="0" y="426719"/>
                  </a:lnTo>
                  <a:lnTo>
                    <a:pt x="10969879" y="426719"/>
                  </a:lnTo>
                  <a:lnTo>
                    <a:pt x="10969879" y="0"/>
                  </a:lnTo>
                  <a:close/>
                </a:path>
              </a:pathLst>
            </a:custGeom>
            <a:solidFill>
              <a:srgbClr val="BC572C"/>
            </a:solidFill>
          </p:spPr>
          <p:txBody>
            <a:bodyPr wrap="square" lIns="0" tIns="0" rIns="0" bIns="0" rtlCol="0"/>
            <a:lstStyle/>
            <a:p>
              <a:endParaRPr/>
            </a:p>
          </p:txBody>
        </p:sp>
        <p:sp>
          <p:nvSpPr>
            <p:cNvPr id="4" name="object 4"/>
            <p:cNvSpPr/>
            <p:nvPr/>
          </p:nvSpPr>
          <p:spPr>
            <a:xfrm>
              <a:off x="14" y="5912027"/>
              <a:ext cx="10970260" cy="60325"/>
            </a:xfrm>
            <a:custGeom>
              <a:avLst/>
              <a:gdLst/>
              <a:ahLst/>
              <a:cxnLst/>
              <a:rect l="l" t="t" r="r" b="b"/>
              <a:pathLst>
                <a:path w="10970260" h="60325">
                  <a:moveTo>
                    <a:pt x="10969879" y="0"/>
                  </a:moveTo>
                  <a:lnTo>
                    <a:pt x="0" y="0"/>
                  </a:lnTo>
                  <a:lnTo>
                    <a:pt x="0" y="59740"/>
                  </a:lnTo>
                  <a:lnTo>
                    <a:pt x="10969879" y="59740"/>
                  </a:lnTo>
                  <a:lnTo>
                    <a:pt x="10969879" y="0"/>
                  </a:lnTo>
                  <a:close/>
                </a:path>
              </a:pathLst>
            </a:custGeom>
            <a:solidFill>
              <a:srgbClr val="E38312"/>
            </a:solidFill>
          </p:spPr>
          <p:txBody>
            <a:bodyPr wrap="square" lIns="0" tIns="0" rIns="0" bIns="0" rtlCol="0"/>
            <a:lstStyle/>
            <a:p>
              <a:endParaRPr/>
            </a:p>
          </p:txBody>
        </p:sp>
      </p:grpSp>
      <p:sp>
        <p:nvSpPr>
          <p:cNvPr id="5" name="object 5" descr="$PPTXTitle"/>
          <p:cNvSpPr txBox="1">
            <a:spLocks noGrp="1"/>
          </p:cNvSpPr>
          <p:nvPr>
            <p:ph type="title"/>
          </p:nvPr>
        </p:nvSpPr>
        <p:spPr>
          <a:xfrm>
            <a:off x="3705605" y="224408"/>
            <a:ext cx="2991485" cy="696595"/>
          </a:xfrm>
          <a:prstGeom prst="rect">
            <a:avLst/>
          </a:prstGeom>
        </p:spPr>
        <p:txBody>
          <a:bodyPr vert="horz" wrap="square" lIns="0" tIns="13335" rIns="0" bIns="0" rtlCol="0">
            <a:spAutoFit/>
          </a:bodyPr>
          <a:lstStyle/>
          <a:p>
            <a:pPr marL="12700">
              <a:lnSpc>
                <a:spcPct val="100000"/>
              </a:lnSpc>
              <a:spcBef>
                <a:spcPts val="105"/>
              </a:spcBef>
            </a:pPr>
            <a:r>
              <a:rPr dirty="0"/>
              <a:t>Gantt</a:t>
            </a:r>
            <a:r>
              <a:rPr spc="-15" dirty="0"/>
              <a:t> </a:t>
            </a:r>
            <a:r>
              <a:rPr spc="-10" dirty="0"/>
              <a:t>Chart</a:t>
            </a:r>
          </a:p>
        </p:txBody>
      </p:sp>
      <p:sp>
        <p:nvSpPr>
          <p:cNvPr id="7" name="object 7"/>
          <p:cNvSpPr txBox="1">
            <a:spLocks noGrp="1"/>
          </p:cNvSpPr>
          <p:nvPr>
            <p:ph type="ftr" sz="quarter" idx="5"/>
          </p:nvPr>
        </p:nvSpPr>
        <p:spPr>
          <a:xfrm>
            <a:off x="403352" y="5983538"/>
            <a:ext cx="5957366" cy="272005"/>
          </a:xfrm>
          <a:prstGeom prst="rect">
            <a:avLst/>
          </a:prstGeom>
        </p:spPr>
        <p:txBody>
          <a:bodyPr vert="horz" wrap="square" lIns="0" tIns="66174" rIns="0" bIns="0" rtlCol="0">
            <a:spAutoFit/>
          </a:bodyPr>
          <a:lstStyle/>
          <a:p>
            <a:pPr marL="327025">
              <a:lnSpc>
                <a:spcPts val="1630"/>
              </a:lnSpc>
            </a:pPr>
            <a:r>
              <a:rPr lang="en-US" spc="-10" dirty="0"/>
              <a:t>Smart </a:t>
            </a:r>
            <a:r>
              <a:rPr lang="en-US" spc="-10" dirty="0" err="1"/>
              <a:t>Sheild</a:t>
            </a:r>
            <a:r>
              <a:rPr lang="en-US" spc="-10" dirty="0"/>
              <a:t>  AI </a:t>
            </a:r>
            <a:r>
              <a:rPr lang="en-US" spc="-10" dirty="0" err="1"/>
              <a:t>enabeled</a:t>
            </a:r>
            <a:r>
              <a:rPr lang="en-US" spc="-10" dirty="0"/>
              <a:t> helmet </a:t>
            </a:r>
          </a:p>
        </p:txBody>
      </p:sp>
      <p:graphicFrame>
        <p:nvGraphicFramePr>
          <p:cNvPr id="6" name="object 6"/>
          <p:cNvGraphicFramePr>
            <a:graphicFrameLocks noGrp="1"/>
          </p:cNvGraphicFramePr>
          <p:nvPr/>
        </p:nvGraphicFramePr>
        <p:xfrm>
          <a:off x="962761" y="1134744"/>
          <a:ext cx="9032875" cy="4390390"/>
        </p:xfrm>
        <a:graphic>
          <a:graphicData uri="http://schemas.openxmlformats.org/drawingml/2006/table">
            <a:tbl>
              <a:tblPr firstRow="1" bandRow="1">
                <a:tableStyleId>{2D5ABB26-0587-4C30-8999-92F81FD0307C}</a:tableStyleId>
              </a:tblPr>
              <a:tblGrid>
                <a:gridCol w="1806575">
                  <a:extLst>
                    <a:ext uri="{9D8B030D-6E8A-4147-A177-3AD203B41FA5}">
                      <a16:colId xmlns:a16="http://schemas.microsoft.com/office/drawing/2014/main" val="20000"/>
                    </a:ext>
                  </a:extLst>
                </a:gridCol>
                <a:gridCol w="1806575">
                  <a:extLst>
                    <a:ext uri="{9D8B030D-6E8A-4147-A177-3AD203B41FA5}">
                      <a16:colId xmlns:a16="http://schemas.microsoft.com/office/drawing/2014/main" val="20001"/>
                    </a:ext>
                  </a:extLst>
                </a:gridCol>
                <a:gridCol w="1806575">
                  <a:extLst>
                    <a:ext uri="{9D8B030D-6E8A-4147-A177-3AD203B41FA5}">
                      <a16:colId xmlns:a16="http://schemas.microsoft.com/office/drawing/2014/main" val="20002"/>
                    </a:ext>
                  </a:extLst>
                </a:gridCol>
                <a:gridCol w="1806575">
                  <a:extLst>
                    <a:ext uri="{9D8B030D-6E8A-4147-A177-3AD203B41FA5}">
                      <a16:colId xmlns:a16="http://schemas.microsoft.com/office/drawing/2014/main" val="20003"/>
                    </a:ext>
                  </a:extLst>
                </a:gridCol>
                <a:gridCol w="1806575">
                  <a:extLst>
                    <a:ext uri="{9D8B030D-6E8A-4147-A177-3AD203B41FA5}">
                      <a16:colId xmlns:a16="http://schemas.microsoft.com/office/drawing/2014/main" val="20004"/>
                    </a:ext>
                  </a:extLst>
                </a:gridCol>
              </a:tblGrid>
              <a:tr h="238125">
                <a:tc>
                  <a:txBody>
                    <a:bodyPr/>
                    <a:lstStyle/>
                    <a:p>
                      <a:pPr marL="60960">
                        <a:lnSpc>
                          <a:spcPct val="100000"/>
                        </a:lnSpc>
                        <a:spcBef>
                          <a:spcPts val="375"/>
                        </a:spcBef>
                      </a:pPr>
                      <a:r>
                        <a:rPr sz="900" spc="-20" dirty="0">
                          <a:latin typeface="Arial MT"/>
                          <a:cs typeface="Arial MT"/>
                        </a:rPr>
                        <a:t>Task</a:t>
                      </a:r>
                      <a:endParaRPr sz="900">
                        <a:latin typeface="Arial MT"/>
                        <a:cs typeface="Arial MT"/>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gn="ctr">
                        <a:lnSpc>
                          <a:spcPct val="100000"/>
                        </a:lnSpc>
                        <a:spcBef>
                          <a:spcPts val="375"/>
                        </a:spcBef>
                      </a:pPr>
                      <a:r>
                        <a:rPr sz="900" dirty="0">
                          <a:latin typeface="Arial MT"/>
                          <a:cs typeface="Arial MT"/>
                        </a:rPr>
                        <a:t>Month</a:t>
                      </a:r>
                      <a:r>
                        <a:rPr sz="900" spc="-35" dirty="0">
                          <a:latin typeface="Arial MT"/>
                          <a:cs typeface="Arial MT"/>
                        </a:rPr>
                        <a:t> </a:t>
                      </a:r>
                      <a:r>
                        <a:rPr sz="900" spc="-60" dirty="0">
                          <a:latin typeface="Arial MT"/>
                          <a:cs typeface="Arial MT"/>
                        </a:rPr>
                        <a:t>1</a:t>
                      </a:r>
                      <a:endParaRPr sz="900">
                        <a:latin typeface="Arial MT"/>
                        <a:cs typeface="Arial MT"/>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gn="ctr">
                        <a:lnSpc>
                          <a:spcPct val="100000"/>
                        </a:lnSpc>
                        <a:spcBef>
                          <a:spcPts val="375"/>
                        </a:spcBef>
                      </a:pPr>
                      <a:r>
                        <a:rPr sz="900" dirty="0">
                          <a:latin typeface="Arial MT"/>
                          <a:cs typeface="Arial MT"/>
                        </a:rPr>
                        <a:t>Month</a:t>
                      </a:r>
                      <a:r>
                        <a:rPr sz="900" spc="-35" dirty="0">
                          <a:latin typeface="Arial MT"/>
                          <a:cs typeface="Arial MT"/>
                        </a:rPr>
                        <a:t> </a:t>
                      </a:r>
                      <a:r>
                        <a:rPr sz="900" spc="-60" dirty="0">
                          <a:latin typeface="Arial MT"/>
                          <a:cs typeface="Arial MT"/>
                        </a:rPr>
                        <a:t>2</a:t>
                      </a:r>
                      <a:endParaRPr sz="900">
                        <a:latin typeface="Arial MT"/>
                        <a:cs typeface="Arial MT"/>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gn="ctr">
                        <a:lnSpc>
                          <a:spcPct val="100000"/>
                        </a:lnSpc>
                        <a:spcBef>
                          <a:spcPts val="375"/>
                        </a:spcBef>
                      </a:pPr>
                      <a:r>
                        <a:rPr sz="900" dirty="0">
                          <a:latin typeface="Arial MT"/>
                          <a:cs typeface="Arial MT"/>
                        </a:rPr>
                        <a:t>Month</a:t>
                      </a:r>
                      <a:r>
                        <a:rPr sz="900" spc="-35" dirty="0">
                          <a:latin typeface="Arial MT"/>
                          <a:cs typeface="Arial MT"/>
                        </a:rPr>
                        <a:t> </a:t>
                      </a:r>
                      <a:r>
                        <a:rPr sz="900" spc="-60" dirty="0">
                          <a:latin typeface="Arial MT"/>
                          <a:cs typeface="Arial MT"/>
                        </a:rPr>
                        <a:t>3</a:t>
                      </a:r>
                      <a:endParaRPr sz="900">
                        <a:latin typeface="Arial MT"/>
                        <a:cs typeface="Arial MT"/>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marL="635" algn="ctr">
                        <a:lnSpc>
                          <a:spcPct val="100000"/>
                        </a:lnSpc>
                        <a:spcBef>
                          <a:spcPts val="375"/>
                        </a:spcBef>
                      </a:pPr>
                      <a:r>
                        <a:rPr sz="900" dirty="0">
                          <a:latin typeface="Arial MT"/>
                          <a:cs typeface="Arial MT"/>
                        </a:rPr>
                        <a:t>Month</a:t>
                      </a:r>
                      <a:r>
                        <a:rPr sz="900" spc="-35" dirty="0">
                          <a:latin typeface="Arial MT"/>
                          <a:cs typeface="Arial MT"/>
                        </a:rPr>
                        <a:t> </a:t>
                      </a:r>
                      <a:r>
                        <a:rPr sz="900" spc="-60" dirty="0">
                          <a:latin typeface="Arial MT"/>
                          <a:cs typeface="Arial MT"/>
                        </a:rPr>
                        <a:t>4</a:t>
                      </a:r>
                      <a:endParaRPr sz="900">
                        <a:latin typeface="Arial MT"/>
                        <a:cs typeface="Arial MT"/>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extLst>
                  <a:ext uri="{0D108BD9-81ED-4DB2-BD59-A6C34878D82A}">
                    <a16:rowId xmlns:a16="http://schemas.microsoft.com/office/drawing/2014/main" val="10000"/>
                  </a:ext>
                </a:extLst>
              </a:tr>
              <a:tr h="572770">
                <a:tc>
                  <a:txBody>
                    <a:bodyPr/>
                    <a:lstStyle/>
                    <a:p>
                      <a:pPr>
                        <a:lnSpc>
                          <a:spcPct val="100000"/>
                        </a:lnSpc>
                        <a:spcBef>
                          <a:spcPts val="120"/>
                        </a:spcBef>
                      </a:pPr>
                      <a:endParaRPr sz="900">
                        <a:latin typeface="Times New Roman"/>
                        <a:cs typeface="Times New Roman"/>
                      </a:endParaRPr>
                    </a:p>
                    <a:p>
                      <a:pPr marL="60960" marR="72390">
                        <a:lnSpc>
                          <a:spcPct val="100000"/>
                        </a:lnSpc>
                      </a:pPr>
                      <a:r>
                        <a:rPr sz="900" dirty="0">
                          <a:latin typeface="Arial MT"/>
                          <a:cs typeface="Arial MT"/>
                        </a:rPr>
                        <a:t>Literature</a:t>
                      </a:r>
                      <a:r>
                        <a:rPr sz="900" spc="-50" dirty="0">
                          <a:latin typeface="Arial MT"/>
                          <a:cs typeface="Arial MT"/>
                        </a:rPr>
                        <a:t> </a:t>
                      </a:r>
                      <a:r>
                        <a:rPr sz="900" dirty="0">
                          <a:latin typeface="Arial MT"/>
                          <a:cs typeface="Arial MT"/>
                        </a:rPr>
                        <a:t>Survey</a:t>
                      </a:r>
                      <a:r>
                        <a:rPr sz="900" spc="-10" dirty="0">
                          <a:latin typeface="Arial MT"/>
                          <a:cs typeface="Arial MT"/>
                        </a:rPr>
                        <a:t> </a:t>
                      </a:r>
                      <a:r>
                        <a:rPr sz="900" dirty="0">
                          <a:latin typeface="Arial MT"/>
                          <a:cs typeface="Arial MT"/>
                        </a:rPr>
                        <a:t>&amp;</a:t>
                      </a:r>
                      <a:r>
                        <a:rPr sz="900" spc="-30" dirty="0">
                          <a:latin typeface="Arial MT"/>
                          <a:cs typeface="Arial MT"/>
                        </a:rPr>
                        <a:t> </a:t>
                      </a:r>
                      <a:r>
                        <a:rPr sz="900" spc="-10" dirty="0">
                          <a:latin typeface="Arial MT"/>
                          <a:cs typeface="Arial MT"/>
                        </a:rPr>
                        <a:t>Requirement Analysis</a:t>
                      </a:r>
                      <a:endParaRPr sz="900">
                        <a:latin typeface="Arial MT"/>
                        <a:cs typeface="Arial MT"/>
                      </a:endParaRPr>
                    </a:p>
                  </a:txBody>
                  <a:tcPr marL="0" marR="0" marT="152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spcBef>
                          <a:spcPts val="660"/>
                        </a:spcBef>
                      </a:pPr>
                      <a:endParaRPr sz="900">
                        <a:latin typeface="Times New Roman"/>
                        <a:cs typeface="Times New Roman"/>
                      </a:endParaRPr>
                    </a:p>
                    <a:p>
                      <a:pPr algn="ctr">
                        <a:lnSpc>
                          <a:spcPct val="100000"/>
                        </a:lnSpc>
                      </a:pPr>
                      <a:r>
                        <a:rPr sz="900" spc="-300" dirty="0">
                          <a:latin typeface="Arial MT"/>
                          <a:cs typeface="Arial MT"/>
                        </a:rPr>
                        <a:t>███</a:t>
                      </a:r>
                      <a:endParaRPr sz="900">
                        <a:latin typeface="Arial MT"/>
                        <a:cs typeface="Arial MT"/>
                      </a:endParaRPr>
                    </a:p>
                  </a:txBody>
                  <a:tcPr marL="0" marR="0" marT="838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extLst>
                  <a:ext uri="{0D108BD9-81ED-4DB2-BD59-A6C34878D82A}">
                    <a16:rowId xmlns:a16="http://schemas.microsoft.com/office/drawing/2014/main" val="10001"/>
                  </a:ext>
                </a:extLst>
              </a:tr>
              <a:tr h="405765">
                <a:tc>
                  <a:txBody>
                    <a:bodyPr/>
                    <a:lstStyle/>
                    <a:p>
                      <a:pPr marL="60960" marR="703580">
                        <a:lnSpc>
                          <a:spcPct val="100000"/>
                        </a:lnSpc>
                        <a:spcBef>
                          <a:spcPts val="495"/>
                        </a:spcBef>
                      </a:pPr>
                      <a:r>
                        <a:rPr sz="900" dirty="0">
                          <a:latin typeface="Arial MT"/>
                          <a:cs typeface="Arial MT"/>
                        </a:rPr>
                        <a:t>Dataset</a:t>
                      </a:r>
                      <a:r>
                        <a:rPr sz="900" spc="-25" dirty="0">
                          <a:latin typeface="Arial MT"/>
                          <a:cs typeface="Arial MT"/>
                        </a:rPr>
                        <a:t> </a:t>
                      </a:r>
                      <a:r>
                        <a:rPr sz="900" dirty="0">
                          <a:latin typeface="Arial MT"/>
                          <a:cs typeface="Arial MT"/>
                        </a:rPr>
                        <a:t>Collection</a:t>
                      </a:r>
                      <a:r>
                        <a:rPr sz="900" spc="-35" dirty="0">
                          <a:latin typeface="Arial MT"/>
                          <a:cs typeface="Arial MT"/>
                        </a:rPr>
                        <a:t> </a:t>
                      </a:r>
                      <a:r>
                        <a:rPr sz="900" spc="-50" dirty="0">
                          <a:latin typeface="Arial MT"/>
                          <a:cs typeface="Arial MT"/>
                        </a:rPr>
                        <a:t>&amp;</a:t>
                      </a:r>
                      <a:r>
                        <a:rPr sz="900" spc="-10" dirty="0">
                          <a:latin typeface="Arial MT"/>
                          <a:cs typeface="Arial MT"/>
                        </a:rPr>
                        <a:t> Preprocessing</a:t>
                      </a:r>
                      <a:endParaRPr sz="900">
                        <a:latin typeface="Arial MT"/>
                        <a:cs typeface="Arial MT"/>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900">
                        <a:latin typeface="Times New Roman"/>
                        <a:cs typeface="Times New Roman"/>
                      </a:endParaRPr>
                    </a:p>
                    <a:p>
                      <a:pPr algn="ctr">
                        <a:lnSpc>
                          <a:spcPct val="100000"/>
                        </a:lnSpc>
                        <a:spcBef>
                          <a:spcPts val="5"/>
                        </a:spcBef>
                      </a:pPr>
                      <a:r>
                        <a:rPr sz="900" spc="-300" dirty="0">
                          <a:latin typeface="Arial MT"/>
                          <a:cs typeface="Arial MT"/>
                        </a:rPr>
                        <a:t>███</a:t>
                      </a:r>
                      <a:endParaRPr sz="900">
                        <a:latin typeface="Arial MT"/>
                        <a:cs typeface="Arial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900">
                        <a:latin typeface="Times New Roman"/>
                        <a:cs typeface="Times New Roman"/>
                      </a:endParaRPr>
                    </a:p>
                    <a:p>
                      <a:pPr marL="635" algn="ctr">
                        <a:lnSpc>
                          <a:spcPct val="100000"/>
                        </a:lnSpc>
                        <a:spcBef>
                          <a:spcPts val="5"/>
                        </a:spcBef>
                      </a:pPr>
                      <a:r>
                        <a:rPr sz="900" spc="-320" dirty="0">
                          <a:latin typeface="Arial MT"/>
                          <a:cs typeface="Arial MT"/>
                        </a:rPr>
                        <a:t>⬛</a:t>
                      </a:r>
                      <a:endParaRPr sz="900">
                        <a:latin typeface="Arial MT"/>
                        <a:cs typeface="Arial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extLst>
                  <a:ext uri="{0D108BD9-81ED-4DB2-BD59-A6C34878D82A}">
                    <a16:rowId xmlns:a16="http://schemas.microsoft.com/office/drawing/2014/main" val="10002"/>
                  </a:ext>
                </a:extLst>
              </a:tr>
              <a:tr h="572770">
                <a:tc>
                  <a:txBody>
                    <a:bodyPr/>
                    <a:lstStyle/>
                    <a:p>
                      <a:pPr>
                        <a:lnSpc>
                          <a:spcPct val="100000"/>
                        </a:lnSpc>
                        <a:spcBef>
                          <a:spcPts val="120"/>
                        </a:spcBef>
                      </a:pPr>
                      <a:endParaRPr sz="900">
                        <a:latin typeface="Times New Roman"/>
                        <a:cs typeface="Times New Roman"/>
                      </a:endParaRPr>
                    </a:p>
                    <a:p>
                      <a:pPr marL="60960" marR="523240">
                        <a:lnSpc>
                          <a:spcPct val="100000"/>
                        </a:lnSpc>
                      </a:pPr>
                      <a:r>
                        <a:rPr sz="900" spc="-10" dirty="0">
                          <a:latin typeface="Arial MT"/>
                          <a:cs typeface="Arial MT"/>
                        </a:rPr>
                        <a:t>NLP-</a:t>
                      </a:r>
                      <a:r>
                        <a:rPr sz="900" dirty="0">
                          <a:latin typeface="Arial MT"/>
                          <a:cs typeface="Arial MT"/>
                        </a:rPr>
                        <a:t>Based</a:t>
                      </a:r>
                      <a:r>
                        <a:rPr sz="900" spc="10" dirty="0">
                          <a:latin typeface="Arial MT"/>
                          <a:cs typeface="Arial MT"/>
                        </a:rPr>
                        <a:t> </a:t>
                      </a:r>
                      <a:r>
                        <a:rPr sz="900" spc="-10" dirty="0">
                          <a:latin typeface="Arial MT"/>
                          <a:cs typeface="Arial MT"/>
                        </a:rPr>
                        <a:t>Transaction Categorization</a:t>
                      </a:r>
                      <a:endParaRPr sz="900">
                        <a:latin typeface="Arial MT"/>
                        <a:cs typeface="Arial MT"/>
                      </a:endParaRPr>
                    </a:p>
                  </a:txBody>
                  <a:tcPr marL="0" marR="0" marT="152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spcBef>
                          <a:spcPts val="660"/>
                        </a:spcBef>
                      </a:pPr>
                      <a:endParaRPr sz="900">
                        <a:latin typeface="Times New Roman"/>
                        <a:cs typeface="Times New Roman"/>
                      </a:endParaRPr>
                    </a:p>
                    <a:p>
                      <a:pPr marL="635" algn="ctr">
                        <a:lnSpc>
                          <a:spcPct val="100000"/>
                        </a:lnSpc>
                      </a:pPr>
                      <a:r>
                        <a:rPr sz="900" spc="-300" dirty="0">
                          <a:latin typeface="Arial MT"/>
                          <a:cs typeface="Arial MT"/>
                        </a:rPr>
                        <a:t>███</a:t>
                      </a:r>
                      <a:endParaRPr sz="900">
                        <a:latin typeface="Arial MT"/>
                        <a:cs typeface="Arial MT"/>
                      </a:endParaRPr>
                    </a:p>
                  </a:txBody>
                  <a:tcPr marL="0" marR="0" marT="838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extLst>
                  <a:ext uri="{0D108BD9-81ED-4DB2-BD59-A6C34878D82A}">
                    <a16:rowId xmlns:a16="http://schemas.microsoft.com/office/drawing/2014/main" val="10003"/>
                  </a:ext>
                </a:extLst>
              </a:tr>
              <a:tr h="405765">
                <a:tc>
                  <a:txBody>
                    <a:bodyPr/>
                    <a:lstStyle/>
                    <a:p>
                      <a:pPr>
                        <a:lnSpc>
                          <a:spcPct val="100000"/>
                        </a:lnSpc>
                        <a:spcBef>
                          <a:spcPts val="5"/>
                        </a:spcBef>
                      </a:pPr>
                      <a:endParaRPr sz="900">
                        <a:latin typeface="Times New Roman"/>
                        <a:cs typeface="Times New Roman"/>
                      </a:endParaRPr>
                    </a:p>
                    <a:p>
                      <a:pPr marL="60960">
                        <a:lnSpc>
                          <a:spcPct val="100000"/>
                        </a:lnSpc>
                      </a:pPr>
                      <a:r>
                        <a:rPr sz="900" dirty="0">
                          <a:latin typeface="Arial MT"/>
                          <a:cs typeface="Arial MT"/>
                        </a:rPr>
                        <a:t>Subscription</a:t>
                      </a:r>
                      <a:r>
                        <a:rPr sz="900" spc="-50" dirty="0">
                          <a:latin typeface="Arial MT"/>
                          <a:cs typeface="Arial MT"/>
                        </a:rPr>
                        <a:t> </a:t>
                      </a:r>
                      <a:r>
                        <a:rPr sz="900" dirty="0">
                          <a:latin typeface="Arial MT"/>
                          <a:cs typeface="Arial MT"/>
                        </a:rPr>
                        <a:t>Spike</a:t>
                      </a:r>
                      <a:r>
                        <a:rPr sz="900" spc="-15" dirty="0">
                          <a:latin typeface="Arial MT"/>
                          <a:cs typeface="Arial MT"/>
                        </a:rPr>
                        <a:t> </a:t>
                      </a:r>
                      <a:r>
                        <a:rPr sz="900" spc="-10" dirty="0">
                          <a:latin typeface="Arial MT"/>
                          <a:cs typeface="Arial MT"/>
                        </a:rPr>
                        <a:t>Detection</a:t>
                      </a:r>
                      <a:endParaRPr sz="900">
                        <a:latin typeface="Arial MT"/>
                        <a:cs typeface="Arial MT"/>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spcBef>
                          <a:spcPts val="5"/>
                        </a:spcBef>
                      </a:pPr>
                      <a:endParaRPr sz="900">
                        <a:latin typeface="Times New Roman"/>
                        <a:cs typeface="Times New Roman"/>
                      </a:endParaRPr>
                    </a:p>
                    <a:p>
                      <a:pPr marL="635" algn="ctr">
                        <a:lnSpc>
                          <a:spcPct val="100000"/>
                        </a:lnSpc>
                      </a:pPr>
                      <a:r>
                        <a:rPr sz="900" spc="-300" dirty="0">
                          <a:latin typeface="Arial MT"/>
                          <a:cs typeface="Arial MT"/>
                        </a:rPr>
                        <a:t>███</a:t>
                      </a:r>
                      <a:endParaRPr sz="900">
                        <a:latin typeface="Arial MT"/>
                        <a:cs typeface="Arial MT"/>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spcBef>
                          <a:spcPts val="5"/>
                        </a:spcBef>
                      </a:pPr>
                      <a:endParaRPr sz="900">
                        <a:latin typeface="Times New Roman"/>
                        <a:cs typeface="Times New Roman"/>
                      </a:endParaRPr>
                    </a:p>
                    <a:p>
                      <a:pPr marL="1270" algn="ctr">
                        <a:lnSpc>
                          <a:spcPct val="100000"/>
                        </a:lnSpc>
                      </a:pPr>
                      <a:r>
                        <a:rPr sz="900" spc="-320" dirty="0">
                          <a:latin typeface="Arial MT"/>
                          <a:cs typeface="Arial MT"/>
                        </a:rPr>
                        <a:t>⬛</a:t>
                      </a:r>
                      <a:endParaRPr sz="900">
                        <a:latin typeface="Arial MT"/>
                        <a:cs typeface="Arial MT"/>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extLst>
                  <a:ext uri="{0D108BD9-81ED-4DB2-BD59-A6C34878D82A}">
                    <a16:rowId xmlns:a16="http://schemas.microsoft.com/office/drawing/2014/main" val="10004"/>
                  </a:ext>
                </a:extLst>
              </a:tr>
              <a:tr h="405130">
                <a:tc>
                  <a:txBody>
                    <a:bodyPr/>
                    <a:lstStyle/>
                    <a:p>
                      <a:pPr>
                        <a:lnSpc>
                          <a:spcPct val="100000"/>
                        </a:lnSpc>
                        <a:spcBef>
                          <a:spcPts val="5"/>
                        </a:spcBef>
                      </a:pPr>
                      <a:endParaRPr sz="900">
                        <a:latin typeface="Times New Roman"/>
                        <a:cs typeface="Times New Roman"/>
                      </a:endParaRPr>
                    </a:p>
                    <a:p>
                      <a:pPr marL="60960">
                        <a:lnSpc>
                          <a:spcPct val="100000"/>
                        </a:lnSpc>
                      </a:pPr>
                      <a:r>
                        <a:rPr sz="900" dirty="0">
                          <a:latin typeface="Arial MT"/>
                          <a:cs typeface="Arial MT"/>
                        </a:rPr>
                        <a:t>Cash-Flow</a:t>
                      </a:r>
                      <a:r>
                        <a:rPr sz="900" spc="-40" dirty="0">
                          <a:latin typeface="Arial MT"/>
                          <a:cs typeface="Arial MT"/>
                        </a:rPr>
                        <a:t> </a:t>
                      </a:r>
                      <a:r>
                        <a:rPr sz="900" spc="-10" dirty="0">
                          <a:latin typeface="Arial MT"/>
                          <a:cs typeface="Arial MT"/>
                        </a:rPr>
                        <a:t>Prediction</a:t>
                      </a:r>
                      <a:endParaRPr sz="900">
                        <a:latin typeface="Arial MT"/>
                        <a:cs typeface="Arial MT"/>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spcBef>
                          <a:spcPts val="5"/>
                        </a:spcBef>
                      </a:pPr>
                      <a:endParaRPr sz="900">
                        <a:latin typeface="Times New Roman"/>
                        <a:cs typeface="Times New Roman"/>
                      </a:endParaRPr>
                    </a:p>
                    <a:p>
                      <a:pPr marL="1270" algn="ctr">
                        <a:lnSpc>
                          <a:spcPct val="100000"/>
                        </a:lnSpc>
                      </a:pPr>
                      <a:r>
                        <a:rPr sz="900" spc="-300" dirty="0">
                          <a:latin typeface="Arial MT"/>
                          <a:cs typeface="Arial MT"/>
                        </a:rPr>
                        <a:t>███</a:t>
                      </a:r>
                      <a:endParaRPr sz="900">
                        <a:latin typeface="Arial MT"/>
                        <a:cs typeface="Arial MT"/>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extLst>
                  <a:ext uri="{0D108BD9-81ED-4DB2-BD59-A6C34878D82A}">
                    <a16:rowId xmlns:a16="http://schemas.microsoft.com/office/drawing/2014/main" val="10005"/>
                  </a:ext>
                </a:extLst>
              </a:tr>
              <a:tr h="572770">
                <a:tc>
                  <a:txBody>
                    <a:bodyPr/>
                    <a:lstStyle/>
                    <a:p>
                      <a:pPr>
                        <a:lnSpc>
                          <a:spcPct val="100000"/>
                        </a:lnSpc>
                        <a:spcBef>
                          <a:spcPts val="120"/>
                        </a:spcBef>
                      </a:pPr>
                      <a:endParaRPr sz="900">
                        <a:latin typeface="Times New Roman"/>
                        <a:cs typeface="Times New Roman"/>
                      </a:endParaRPr>
                    </a:p>
                    <a:p>
                      <a:pPr marL="60960" marR="545465">
                        <a:lnSpc>
                          <a:spcPct val="100000"/>
                        </a:lnSpc>
                        <a:spcBef>
                          <a:spcPts val="5"/>
                        </a:spcBef>
                      </a:pPr>
                      <a:r>
                        <a:rPr sz="900" dirty="0">
                          <a:latin typeface="Arial MT"/>
                          <a:cs typeface="Arial MT"/>
                        </a:rPr>
                        <a:t>System</a:t>
                      </a:r>
                      <a:r>
                        <a:rPr sz="900" spc="-20" dirty="0">
                          <a:latin typeface="Arial MT"/>
                          <a:cs typeface="Arial MT"/>
                        </a:rPr>
                        <a:t> </a:t>
                      </a:r>
                      <a:r>
                        <a:rPr sz="900" dirty="0">
                          <a:latin typeface="Arial MT"/>
                          <a:cs typeface="Arial MT"/>
                        </a:rPr>
                        <a:t>Development</a:t>
                      </a:r>
                      <a:r>
                        <a:rPr sz="900" spc="-50" dirty="0">
                          <a:latin typeface="Arial MT"/>
                          <a:cs typeface="Arial MT"/>
                        </a:rPr>
                        <a:t> &amp;</a:t>
                      </a:r>
                      <a:r>
                        <a:rPr sz="900" spc="-10" dirty="0">
                          <a:latin typeface="Arial MT"/>
                          <a:cs typeface="Arial MT"/>
                        </a:rPr>
                        <a:t> Integration</a:t>
                      </a:r>
                      <a:endParaRPr sz="900">
                        <a:latin typeface="Arial MT"/>
                        <a:cs typeface="Arial MT"/>
                      </a:endParaRPr>
                    </a:p>
                  </a:txBody>
                  <a:tcPr marL="0" marR="0" marT="152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spcBef>
                          <a:spcPts val="660"/>
                        </a:spcBef>
                      </a:pPr>
                      <a:endParaRPr sz="900">
                        <a:latin typeface="Times New Roman"/>
                        <a:cs typeface="Times New Roman"/>
                      </a:endParaRPr>
                    </a:p>
                    <a:p>
                      <a:pPr marL="1270" algn="ctr">
                        <a:lnSpc>
                          <a:spcPct val="100000"/>
                        </a:lnSpc>
                        <a:spcBef>
                          <a:spcPts val="5"/>
                        </a:spcBef>
                      </a:pPr>
                      <a:r>
                        <a:rPr sz="900" spc="-300" dirty="0">
                          <a:latin typeface="Arial MT"/>
                          <a:cs typeface="Arial MT"/>
                        </a:rPr>
                        <a:t>███</a:t>
                      </a:r>
                      <a:endParaRPr sz="900">
                        <a:latin typeface="Arial MT"/>
                        <a:cs typeface="Arial MT"/>
                      </a:endParaRPr>
                    </a:p>
                  </a:txBody>
                  <a:tcPr marL="0" marR="0" marT="838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spcBef>
                          <a:spcPts val="660"/>
                        </a:spcBef>
                      </a:pPr>
                      <a:endParaRPr sz="900">
                        <a:latin typeface="Times New Roman"/>
                        <a:cs typeface="Times New Roman"/>
                      </a:endParaRPr>
                    </a:p>
                    <a:p>
                      <a:pPr marL="1905" algn="ctr">
                        <a:lnSpc>
                          <a:spcPct val="100000"/>
                        </a:lnSpc>
                        <a:spcBef>
                          <a:spcPts val="5"/>
                        </a:spcBef>
                      </a:pPr>
                      <a:r>
                        <a:rPr sz="900" spc="-320" dirty="0">
                          <a:latin typeface="Arial MT"/>
                          <a:cs typeface="Arial MT"/>
                        </a:rPr>
                        <a:t>⬛</a:t>
                      </a:r>
                      <a:endParaRPr sz="900">
                        <a:latin typeface="Arial MT"/>
                        <a:cs typeface="Arial MT"/>
                      </a:endParaRPr>
                    </a:p>
                  </a:txBody>
                  <a:tcPr marL="0" marR="0" marT="838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extLst>
                  <a:ext uri="{0D108BD9-81ED-4DB2-BD59-A6C34878D82A}">
                    <a16:rowId xmlns:a16="http://schemas.microsoft.com/office/drawing/2014/main" val="10006"/>
                  </a:ext>
                </a:extLst>
              </a:tr>
              <a:tr h="405765">
                <a:tc>
                  <a:txBody>
                    <a:bodyPr/>
                    <a:lstStyle/>
                    <a:p>
                      <a:pPr>
                        <a:lnSpc>
                          <a:spcPct val="100000"/>
                        </a:lnSpc>
                        <a:spcBef>
                          <a:spcPts val="5"/>
                        </a:spcBef>
                      </a:pPr>
                      <a:endParaRPr sz="900">
                        <a:latin typeface="Times New Roman"/>
                        <a:cs typeface="Times New Roman"/>
                      </a:endParaRPr>
                    </a:p>
                    <a:p>
                      <a:pPr marL="60960">
                        <a:lnSpc>
                          <a:spcPct val="100000"/>
                        </a:lnSpc>
                      </a:pPr>
                      <a:r>
                        <a:rPr sz="900" dirty="0">
                          <a:latin typeface="Arial MT"/>
                          <a:cs typeface="Arial MT"/>
                        </a:rPr>
                        <a:t>Dashboard</a:t>
                      </a:r>
                      <a:r>
                        <a:rPr sz="900" spc="-40" dirty="0">
                          <a:latin typeface="Arial MT"/>
                          <a:cs typeface="Arial MT"/>
                        </a:rPr>
                        <a:t> </a:t>
                      </a:r>
                      <a:r>
                        <a:rPr sz="900" dirty="0">
                          <a:latin typeface="Arial MT"/>
                          <a:cs typeface="Arial MT"/>
                        </a:rPr>
                        <a:t>&amp;</a:t>
                      </a:r>
                      <a:r>
                        <a:rPr sz="900" spc="-5" dirty="0">
                          <a:latin typeface="Arial MT"/>
                          <a:cs typeface="Arial MT"/>
                        </a:rPr>
                        <a:t> </a:t>
                      </a:r>
                      <a:r>
                        <a:rPr sz="900" dirty="0">
                          <a:latin typeface="Arial MT"/>
                          <a:cs typeface="Arial MT"/>
                        </a:rPr>
                        <a:t>Alert</a:t>
                      </a:r>
                      <a:r>
                        <a:rPr sz="900" spc="-15" dirty="0">
                          <a:latin typeface="Arial MT"/>
                          <a:cs typeface="Arial MT"/>
                        </a:rPr>
                        <a:t> </a:t>
                      </a:r>
                      <a:r>
                        <a:rPr sz="900" spc="-10" dirty="0">
                          <a:latin typeface="Arial MT"/>
                          <a:cs typeface="Arial MT"/>
                        </a:rPr>
                        <a:t>System</a:t>
                      </a:r>
                      <a:endParaRPr sz="900">
                        <a:latin typeface="Arial MT"/>
                        <a:cs typeface="Arial MT"/>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spcBef>
                          <a:spcPts val="5"/>
                        </a:spcBef>
                      </a:pPr>
                      <a:endParaRPr sz="900">
                        <a:latin typeface="Times New Roman"/>
                        <a:cs typeface="Times New Roman"/>
                      </a:endParaRPr>
                    </a:p>
                    <a:p>
                      <a:pPr marL="1905" algn="ctr">
                        <a:lnSpc>
                          <a:spcPct val="100000"/>
                        </a:lnSpc>
                      </a:pPr>
                      <a:r>
                        <a:rPr sz="900" spc="-300" dirty="0">
                          <a:latin typeface="Arial MT"/>
                          <a:cs typeface="Arial MT"/>
                        </a:rPr>
                        <a:t>███</a:t>
                      </a:r>
                      <a:endParaRPr sz="900">
                        <a:latin typeface="Arial MT"/>
                        <a:cs typeface="Arial MT"/>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extLst>
                  <a:ext uri="{0D108BD9-81ED-4DB2-BD59-A6C34878D82A}">
                    <a16:rowId xmlns:a16="http://schemas.microsoft.com/office/drawing/2014/main" val="10007"/>
                  </a:ext>
                </a:extLst>
              </a:tr>
              <a:tr h="405765">
                <a:tc>
                  <a:txBody>
                    <a:bodyPr/>
                    <a:lstStyle/>
                    <a:p>
                      <a:pPr>
                        <a:lnSpc>
                          <a:spcPct val="100000"/>
                        </a:lnSpc>
                        <a:spcBef>
                          <a:spcPts val="5"/>
                        </a:spcBef>
                      </a:pPr>
                      <a:endParaRPr sz="900">
                        <a:latin typeface="Times New Roman"/>
                        <a:cs typeface="Times New Roman"/>
                      </a:endParaRPr>
                    </a:p>
                    <a:p>
                      <a:pPr marL="60960">
                        <a:lnSpc>
                          <a:spcPct val="100000"/>
                        </a:lnSpc>
                      </a:pPr>
                      <a:r>
                        <a:rPr sz="900" dirty="0">
                          <a:latin typeface="Arial MT"/>
                          <a:cs typeface="Arial MT"/>
                        </a:rPr>
                        <a:t>Testing</a:t>
                      </a:r>
                      <a:r>
                        <a:rPr sz="900" spc="-20" dirty="0">
                          <a:latin typeface="Arial MT"/>
                          <a:cs typeface="Arial MT"/>
                        </a:rPr>
                        <a:t> </a:t>
                      </a:r>
                      <a:r>
                        <a:rPr sz="900" dirty="0">
                          <a:latin typeface="Arial MT"/>
                          <a:cs typeface="Arial MT"/>
                        </a:rPr>
                        <a:t>&amp;</a:t>
                      </a:r>
                      <a:r>
                        <a:rPr sz="900" spc="-20" dirty="0">
                          <a:latin typeface="Arial MT"/>
                          <a:cs typeface="Arial MT"/>
                        </a:rPr>
                        <a:t> </a:t>
                      </a:r>
                      <a:r>
                        <a:rPr sz="900" spc="-10" dirty="0">
                          <a:latin typeface="Arial MT"/>
                          <a:cs typeface="Arial MT"/>
                        </a:rPr>
                        <a:t>Evaluation</a:t>
                      </a:r>
                      <a:endParaRPr sz="900">
                        <a:latin typeface="Arial MT"/>
                        <a:cs typeface="Arial MT"/>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spcBef>
                          <a:spcPts val="5"/>
                        </a:spcBef>
                      </a:pPr>
                      <a:endParaRPr sz="900">
                        <a:latin typeface="Times New Roman"/>
                        <a:cs typeface="Times New Roman"/>
                      </a:endParaRPr>
                    </a:p>
                    <a:p>
                      <a:pPr marL="1905" algn="ctr">
                        <a:lnSpc>
                          <a:spcPct val="100000"/>
                        </a:lnSpc>
                      </a:pPr>
                      <a:r>
                        <a:rPr sz="900" spc="-300" dirty="0">
                          <a:latin typeface="Arial MT"/>
                          <a:cs typeface="Arial MT"/>
                        </a:rPr>
                        <a:t>███</a:t>
                      </a:r>
                      <a:endParaRPr sz="900">
                        <a:latin typeface="Arial MT"/>
                        <a:cs typeface="Arial MT"/>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extLst>
                  <a:ext uri="{0D108BD9-81ED-4DB2-BD59-A6C34878D82A}">
                    <a16:rowId xmlns:a16="http://schemas.microsoft.com/office/drawing/2014/main" val="10008"/>
                  </a:ext>
                </a:extLst>
              </a:tr>
              <a:tr h="405765">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tc>
                  <a:txBody>
                    <a:bodyPr/>
                    <a:lstStyle/>
                    <a:p>
                      <a:pPr>
                        <a:lnSpc>
                          <a:spcPct val="100000"/>
                        </a:lnSpc>
                      </a:pPr>
                      <a:endParaRPr sz="10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9ECE7"/>
                    </a:solidFill>
                  </a:tcPr>
                </a:tc>
                <a:extLst>
                  <a:ext uri="{0D108BD9-81ED-4DB2-BD59-A6C34878D82A}">
                    <a16:rowId xmlns:a16="http://schemas.microsoft.com/office/drawing/2014/main" val="10009"/>
                  </a:ext>
                </a:extLst>
              </a:tr>
            </a:tbl>
          </a:graphicData>
        </a:graphic>
      </p:graphicFrame>
      <p:pic>
        <p:nvPicPr>
          <p:cNvPr id="9" name="Google Shape;230;p28">
            <a:extLst>
              <a:ext uri="{FF2B5EF4-FFF2-40B4-BE49-F238E27FC236}">
                <a16:creationId xmlns:a16="http://schemas.microsoft.com/office/drawing/2014/main" id="{AE634DED-42AE-17C7-E1F7-BFC0E9AE8CF8}"/>
              </a:ext>
            </a:extLst>
          </p:cNvPr>
          <p:cNvPicPr preferRelativeResize="0"/>
          <p:nvPr/>
        </p:nvPicPr>
        <p:blipFill>
          <a:blip r:embed="rId2">
            <a:alphaModFix/>
          </a:blip>
          <a:srcRect b="11238"/>
          <a:stretch>
            <a:fillRect/>
          </a:stretch>
        </p:blipFill>
        <p:spPr>
          <a:xfrm>
            <a:off x="403352" y="1029025"/>
            <a:ext cx="10001975" cy="455175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4" y="5912027"/>
            <a:ext cx="10972800" cy="488950"/>
            <a:chOff x="14" y="5912027"/>
            <a:chExt cx="10972800" cy="488950"/>
          </a:xfrm>
        </p:grpSpPr>
        <p:sp>
          <p:nvSpPr>
            <p:cNvPr id="3" name="object 3"/>
            <p:cNvSpPr/>
            <p:nvPr/>
          </p:nvSpPr>
          <p:spPr>
            <a:xfrm>
              <a:off x="2858" y="5974079"/>
              <a:ext cx="10970260" cy="426720"/>
            </a:xfrm>
            <a:custGeom>
              <a:avLst/>
              <a:gdLst/>
              <a:ahLst/>
              <a:cxnLst/>
              <a:rect l="l" t="t" r="r" b="b"/>
              <a:pathLst>
                <a:path w="10970260" h="426720">
                  <a:moveTo>
                    <a:pt x="10969879" y="0"/>
                  </a:moveTo>
                  <a:lnTo>
                    <a:pt x="0" y="0"/>
                  </a:lnTo>
                  <a:lnTo>
                    <a:pt x="0" y="426719"/>
                  </a:lnTo>
                  <a:lnTo>
                    <a:pt x="10969879" y="426719"/>
                  </a:lnTo>
                  <a:lnTo>
                    <a:pt x="10969879" y="0"/>
                  </a:lnTo>
                  <a:close/>
                </a:path>
              </a:pathLst>
            </a:custGeom>
            <a:solidFill>
              <a:srgbClr val="BC572C"/>
            </a:solidFill>
          </p:spPr>
          <p:txBody>
            <a:bodyPr wrap="square" lIns="0" tIns="0" rIns="0" bIns="0" rtlCol="0"/>
            <a:lstStyle/>
            <a:p>
              <a:endParaRPr/>
            </a:p>
          </p:txBody>
        </p:sp>
        <p:sp>
          <p:nvSpPr>
            <p:cNvPr id="4" name="object 4"/>
            <p:cNvSpPr/>
            <p:nvPr/>
          </p:nvSpPr>
          <p:spPr>
            <a:xfrm>
              <a:off x="14" y="5912027"/>
              <a:ext cx="10970260" cy="60325"/>
            </a:xfrm>
            <a:custGeom>
              <a:avLst/>
              <a:gdLst/>
              <a:ahLst/>
              <a:cxnLst/>
              <a:rect l="l" t="t" r="r" b="b"/>
              <a:pathLst>
                <a:path w="10970260" h="60325">
                  <a:moveTo>
                    <a:pt x="10969879" y="0"/>
                  </a:moveTo>
                  <a:lnTo>
                    <a:pt x="0" y="0"/>
                  </a:lnTo>
                  <a:lnTo>
                    <a:pt x="0" y="59740"/>
                  </a:lnTo>
                  <a:lnTo>
                    <a:pt x="10969879" y="59740"/>
                  </a:lnTo>
                  <a:lnTo>
                    <a:pt x="10969879" y="0"/>
                  </a:lnTo>
                  <a:close/>
                </a:path>
              </a:pathLst>
            </a:custGeom>
            <a:solidFill>
              <a:srgbClr val="E38312"/>
            </a:solidFill>
          </p:spPr>
          <p:txBody>
            <a:bodyPr wrap="square" lIns="0" tIns="0" rIns="0" bIns="0" rtlCol="0"/>
            <a:lstStyle/>
            <a:p>
              <a:endParaRPr/>
            </a:p>
          </p:txBody>
        </p:sp>
      </p:grpSp>
      <p:sp>
        <p:nvSpPr>
          <p:cNvPr id="5" name="object 5" descr="$PPTXTitle"/>
          <p:cNvSpPr txBox="1">
            <a:spLocks noGrp="1"/>
          </p:cNvSpPr>
          <p:nvPr>
            <p:ph type="title"/>
          </p:nvPr>
        </p:nvSpPr>
        <p:spPr>
          <a:prstGeom prst="rect">
            <a:avLst/>
          </a:prstGeom>
        </p:spPr>
        <p:txBody>
          <a:bodyPr vert="horz" wrap="square" lIns="0" tIns="156286" rIns="0" bIns="0" rtlCol="0">
            <a:spAutoFit/>
          </a:bodyPr>
          <a:lstStyle/>
          <a:p>
            <a:pPr marL="2582545">
              <a:lnSpc>
                <a:spcPct val="100000"/>
              </a:lnSpc>
              <a:spcBef>
                <a:spcPts val="105"/>
              </a:spcBef>
            </a:pPr>
            <a:r>
              <a:rPr spc="-10" dirty="0"/>
              <a:t>Sustainability</a:t>
            </a:r>
          </a:p>
        </p:txBody>
      </p:sp>
      <p:sp>
        <p:nvSpPr>
          <p:cNvPr id="7" name="object 7"/>
          <p:cNvSpPr txBox="1">
            <a:spLocks noGrp="1"/>
          </p:cNvSpPr>
          <p:nvPr>
            <p:ph type="ftr" sz="quarter" idx="5"/>
          </p:nvPr>
        </p:nvSpPr>
        <p:spPr>
          <a:xfrm>
            <a:off x="403352" y="5983538"/>
            <a:ext cx="5957366" cy="345838"/>
          </a:xfrm>
          <a:prstGeom prst="rect">
            <a:avLst/>
          </a:prstGeom>
        </p:spPr>
        <p:txBody>
          <a:bodyPr vert="horz" wrap="square" lIns="0" tIns="139293" rIns="0" bIns="0" rtlCol="0">
            <a:spAutoFit/>
          </a:bodyPr>
          <a:lstStyle/>
          <a:p>
            <a:pPr marL="327025">
              <a:lnSpc>
                <a:spcPts val="1630"/>
              </a:lnSpc>
            </a:pPr>
            <a:r>
              <a:rPr lang="en-US" spc="-10" dirty="0"/>
              <a:t>Smart </a:t>
            </a:r>
            <a:r>
              <a:rPr lang="en-US" spc="-10" dirty="0" err="1"/>
              <a:t>Sheild</a:t>
            </a:r>
            <a:r>
              <a:rPr lang="en-US" spc="-10" dirty="0"/>
              <a:t>  AI </a:t>
            </a:r>
            <a:r>
              <a:rPr lang="en-US" spc="-10" dirty="0" err="1"/>
              <a:t>enabeled</a:t>
            </a:r>
            <a:r>
              <a:rPr lang="en-US" spc="-10" dirty="0"/>
              <a:t> helmet </a:t>
            </a:r>
          </a:p>
        </p:txBody>
      </p:sp>
      <p:sp>
        <p:nvSpPr>
          <p:cNvPr id="6" name="object 6"/>
          <p:cNvSpPr txBox="1"/>
          <p:nvPr/>
        </p:nvSpPr>
        <p:spPr>
          <a:xfrm>
            <a:off x="739241" y="1640585"/>
            <a:ext cx="9334500" cy="3665106"/>
          </a:xfrm>
          <a:prstGeom prst="rect">
            <a:avLst/>
          </a:prstGeom>
        </p:spPr>
        <p:txBody>
          <a:bodyPr vert="horz" wrap="square" lIns="0" tIns="12700" rIns="0" bIns="0" rtlCol="0">
            <a:spAutoFit/>
          </a:bodyPr>
          <a:lstStyle/>
          <a:p>
            <a:pPr marL="355600" marR="354330" indent="-342900">
              <a:lnSpc>
                <a:spcPct val="100000"/>
              </a:lnSpc>
              <a:spcBef>
                <a:spcPts val="100"/>
              </a:spcBef>
              <a:buFont typeface="Arial MT"/>
              <a:buChar char="•"/>
              <a:tabLst>
                <a:tab pos="355600" algn="l"/>
              </a:tabLst>
            </a:pPr>
            <a:r>
              <a:rPr lang="en-US" b="1" dirty="0"/>
              <a:t>Long-Term Usability:</a:t>
            </a:r>
            <a:r>
              <a:rPr lang="en-US" dirty="0"/>
              <a:t> The Smart Helmet can continuously monitor rider safety conditions during regular motorcycle usage.</a:t>
            </a:r>
          </a:p>
          <a:p>
            <a:pPr marL="355600" marR="354330" indent="-342900">
              <a:lnSpc>
                <a:spcPct val="100000"/>
              </a:lnSpc>
              <a:spcBef>
                <a:spcPts val="100"/>
              </a:spcBef>
              <a:buFont typeface="Arial MT"/>
              <a:buChar char="•"/>
              <a:tabLst>
                <a:tab pos="355600" algn="l"/>
              </a:tabLst>
            </a:pPr>
            <a:r>
              <a:rPr lang="en-US" b="1" dirty="0"/>
              <a:t>Scalable Solution:</a:t>
            </a:r>
            <a:r>
              <a:rPr lang="en-US" dirty="0"/>
              <a:t> The system can be extended with additional sensors, advanced communication technologies, and more safety-monitoring features.</a:t>
            </a:r>
          </a:p>
          <a:p>
            <a:pPr marL="355600" marR="354330" indent="-342900">
              <a:lnSpc>
                <a:spcPct val="100000"/>
              </a:lnSpc>
              <a:spcBef>
                <a:spcPts val="100"/>
              </a:spcBef>
              <a:buFont typeface="Arial MT"/>
              <a:buChar char="•"/>
              <a:tabLst>
                <a:tab pos="355600" algn="l"/>
              </a:tabLst>
            </a:pPr>
            <a:r>
              <a:rPr lang="en-US" b="1" dirty="0"/>
              <a:t>Continuous Improvement:</a:t>
            </a:r>
            <a:r>
              <a:rPr lang="en-US" dirty="0"/>
              <a:t> Accident detection, drowsiness detection, and safety monitoring can be improved with advanced </a:t>
            </a:r>
            <a:r>
              <a:rPr lang="en-US" b="1" dirty="0"/>
              <a:t>AI and machine-learning techniques</a:t>
            </a:r>
            <a:r>
              <a:rPr lang="en-US" dirty="0"/>
              <a:t> in future versions.</a:t>
            </a:r>
          </a:p>
          <a:p>
            <a:pPr marL="355600" marR="354330" indent="-342900">
              <a:lnSpc>
                <a:spcPct val="100000"/>
              </a:lnSpc>
              <a:spcBef>
                <a:spcPts val="100"/>
              </a:spcBef>
              <a:buFont typeface="Arial MT"/>
              <a:buChar char="•"/>
              <a:tabLst>
                <a:tab pos="355600" algn="l"/>
              </a:tabLst>
            </a:pPr>
            <a:r>
              <a:rPr lang="en-US" b="1" dirty="0"/>
              <a:t>Reduced Manual Intervention:</a:t>
            </a:r>
            <a:r>
              <a:rPr lang="en-US" dirty="0"/>
              <a:t> Automatic helmet verification, ignition control, accident detection, and emergency SMS reduce the need for manual safety checks and emergency communication.</a:t>
            </a:r>
          </a:p>
          <a:p>
            <a:pPr marL="355600" marR="354330" indent="-342900">
              <a:lnSpc>
                <a:spcPct val="100000"/>
              </a:lnSpc>
              <a:spcBef>
                <a:spcPts val="100"/>
              </a:spcBef>
              <a:buFont typeface="Arial MT"/>
              <a:buChar char="•"/>
              <a:tabLst>
                <a:tab pos="355600" algn="l"/>
              </a:tabLst>
            </a:pPr>
            <a:r>
              <a:rPr lang="en-US" b="1" dirty="0"/>
              <a:t>Future Expansion:</a:t>
            </a:r>
            <a:r>
              <a:rPr lang="en-US" dirty="0"/>
              <a:t> The project can be extended with </a:t>
            </a:r>
            <a:r>
              <a:rPr lang="en-US" b="1" dirty="0"/>
              <a:t>mobile applications, cloud-based data logging, AI-based drowsiness detection, live GPS tracking, and automatic emergency calling</a:t>
            </a:r>
            <a:endParaRPr sz="1800" dirty="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4" y="5912027"/>
            <a:ext cx="10972800" cy="488950"/>
            <a:chOff x="14" y="5912027"/>
            <a:chExt cx="10972800" cy="488950"/>
          </a:xfrm>
        </p:grpSpPr>
        <p:sp>
          <p:nvSpPr>
            <p:cNvPr id="3" name="object 3"/>
            <p:cNvSpPr/>
            <p:nvPr/>
          </p:nvSpPr>
          <p:spPr>
            <a:xfrm>
              <a:off x="2858" y="5974079"/>
              <a:ext cx="10970260" cy="426720"/>
            </a:xfrm>
            <a:custGeom>
              <a:avLst/>
              <a:gdLst/>
              <a:ahLst/>
              <a:cxnLst/>
              <a:rect l="l" t="t" r="r" b="b"/>
              <a:pathLst>
                <a:path w="10970260" h="426720">
                  <a:moveTo>
                    <a:pt x="10969879" y="0"/>
                  </a:moveTo>
                  <a:lnTo>
                    <a:pt x="0" y="0"/>
                  </a:lnTo>
                  <a:lnTo>
                    <a:pt x="0" y="426719"/>
                  </a:lnTo>
                  <a:lnTo>
                    <a:pt x="10969879" y="426719"/>
                  </a:lnTo>
                  <a:lnTo>
                    <a:pt x="10969879" y="0"/>
                  </a:lnTo>
                  <a:close/>
                </a:path>
              </a:pathLst>
            </a:custGeom>
            <a:solidFill>
              <a:srgbClr val="BC572C"/>
            </a:solidFill>
          </p:spPr>
          <p:txBody>
            <a:bodyPr wrap="square" lIns="0" tIns="0" rIns="0" bIns="0" rtlCol="0"/>
            <a:lstStyle/>
            <a:p>
              <a:endParaRPr/>
            </a:p>
          </p:txBody>
        </p:sp>
        <p:sp>
          <p:nvSpPr>
            <p:cNvPr id="4" name="object 4"/>
            <p:cNvSpPr/>
            <p:nvPr/>
          </p:nvSpPr>
          <p:spPr>
            <a:xfrm>
              <a:off x="14" y="5912027"/>
              <a:ext cx="10970260" cy="60325"/>
            </a:xfrm>
            <a:custGeom>
              <a:avLst/>
              <a:gdLst/>
              <a:ahLst/>
              <a:cxnLst/>
              <a:rect l="l" t="t" r="r" b="b"/>
              <a:pathLst>
                <a:path w="10970260" h="60325">
                  <a:moveTo>
                    <a:pt x="10969879" y="0"/>
                  </a:moveTo>
                  <a:lnTo>
                    <a:pt x="0" y="0"/>
                  </a:lnTo>
                  <a:lnTo>
                    <a:pt x="0" y="59740"/>
                  </a:lnTo>
                  <a:lnTo>
                    <a:pt x="10969879" y="59740"/>
                  </a:lnTo>
                  <a:lnTo>
                    <a:pt x="10969879" y="0"/>
                  </a:lnTo>
                  <a:close/>
                </a:path>
              </a:pathLst>
            </a:custGeom>
            <a:solidFill>
              <a:srgbClr val="E38312"/>
            </a:solidFill>
          </p:spPr>
          <p:txBody>
            <a:bodyPr wrap="square" lIns="0" tIns="0" rIns="0" bIns="0" rtlCol="0"/>
            <a:lstStyle/>
            <a:p>
              <a:endParaRPr/>
            </a:p>
          </p:txBody>
        </p:sp>
      </p:grpSp>
      <p:sp>
        <p:nvSpPr>
          <p:cNvPr id="5" name="object 5" descr="$PPTXTitle"/>
          <p:cNvSpPr txBox="1">
            <a:spLocks noGrp="1"/>
          </p:cNvSpPr>
          <p:nvPr>
            <p:ph type="title"/>
          </p:nvPr>
        </p:nvSpPr>
        <p:spPr>
          <a:xfrm>
            <a:off x="3489452" y="942543"/>
            <a:ext cx="3787775" cy="697230"/>
          </a:xfrm>
          <a:prstGeom prst="rect">
            <a:avLst/>
          </a:prstGeom>
        </p:spPr>
        <p:txBody>
          <a:bodyPr vert="horz" wrap="square" lIns="0" tIns="13335" rIns="0" bIns="0" rtlCol="0">
            <a:spAutoFit/>
          </a:bodyPr>
          <a:lstStyle/>
          <a:p>
            <a:pPr marL="12700">
              <a:lnSpc>
                <a:spcPct val="100000"/>
              </a:lnSpc>
              <a:spcBef>
                <a:spcPts val="105"/>
              </a:spcBef>
            </a:pPr>
            <a:r>
              <a:rPr spc="-10" dirty="0"/>
              <a:t>REFERENCES</a:t>
            </a:r>
          </a:p>
        </p:txBody>
      </p:sp>
      <p:sp>
        <p:nvSpPr>
          <p:cNvPr id="7" name="object 7"/>
          <p:cNvSpPr txBox="1">
            <a:spLocks noGrp="1"/>
          </p:cNvSpPr>
          <p:nvPr>
            <p:ph type="ftr" sz="quarter" idx="5"/>
          </p:nvPr>
        </p:nvSpPr>
        <p:spPr>
          <a:xfrm>
            <a:off x="403352" y="5983538"/>
            <a:ext cx="5957366" cy="345838"/>
          </a:xfrm>
          <a:prstGeom prst="rect">
            <a:avLst/>
          </a:prstGeom>
        </p:spPr>
        <p:txBody>
          <a:bodyPr vert="horz" wrap="square" lIns="0" tIns="139293" rIns="0" bIns="0" rtlCol="0">
            <a:spAutoFit/>
          </a:bodyPr>
          <a:lstStyle/>
          <a:p>
            <a:pPr marL="327025">
              <a:lnSpc>
                <a:spcPts val="1630"/>
              </a:lnSpc>
            </a:pPr>
            <a:r>
              <a:rPr lang="en-US" spc="-10" dirty="0"/>
              <a:t>Smart </a:t>
            </a:r>
            <a:r>
              <a:rPr lang="en-US" spc="-10" dirty="0" err="1"/>
              <a:t>Sheild</a:t>
            </a:r>
            <a:r>
              <a:rPr lang="en-US" spc="-10" dirty="0"/>
              <a:t>  AI </a:t>
            </a:r>
            <a:r>
              <a:rPr lang="en-US" spc="-10" dirty="0" err="1"/>
              <a:t>enabeled</a:t>
            </a:r>
            <a:r>
              <a:rPr lang="en-US" spc="-10" dirty="0"/>
              <a:t> helmet </a:t>
            </a:r>
          </a:p>
        </p:txBody>
      </p:sp>
      <p:sp>
        <p:nvSpPr>
          <p:cNvPr id="6" name="object 6"/>
          <p:cNvSpPr txBox="1"/>
          <p:nvPr/>
        </p:nvSpPr>
        <p:spPr>
          <a:xfrm>
            <a:off x="1170228" y="1975230"/>
            <a:ext cx="8632825" cy="3156633"/>
          </a:xfrm>
          <a:prstGeom prst="rect">
            <a:avLst/>
          </a:prstGeom>
        </p:spPr>
        <p:txBody>
          <a:bodyPr vert="horz" wrap="square" lIns="0" tIns="19685" rIns="0" bIns="0" rtlCol="0">
            <a:spAutoFit/>
          </a:bodyPr>
          <a:lstStyle/>
          <a:p>
            <a:pPr>
              <a:lnSpc>
                <a:spcPct val="150000"/>
              </a:lnSpc>
            </a:pPr>
            <a:r>
              <a:rPr lang="en-IN" sz="1600" dirty="0">
                <a:latin typeface="Times New Roman" panose="02020603050405020304" pitchFamily="18" charset="0"/>
                <a:cs typeface="Times New Roman" panose="02020603050405020304" pitchFamily="18" charset="0"/>
              </a:rPr>
              <a:t>[1] Chembe Warren, Mainza Chilanga’s </a:t>
            </a:r>
            <a:r>
              <a:rPr lang="en-IN" sz="1600" dirty="0" err="1">
                <a:latin typeface="Times New Roman" panose="02020603050405020304" pitchFamily="18" charset="0"/>
                <a:cs typeface="Times New Roman" panose="02020603050405020304" pitchFamily="18" charset="0"/>
              </a:rPr>
              <a:t>Helmify</a:t>
            </a:r>
            <a:r>
              <a:rPr lang="en-IN" sz="1600" dirty="0">
                <a:latin typeface="Times New Roman" panose="02020603050405020304" pitchFamily="18" charset="0"/>
                <a:cs typeface="Times New Roman" panose="02020603050405020304" pitchFamily="18" charset="0"/>
              </a:rPr>
              <a:t>: IoT-Based Smart Helmet System for Delivery Rider Safety  June 2025</a:t>
            </a:r>
          </a:p>
          <a:p>
            <a:pPr marL="342900" indent="-342900">
              <a:lnSpc>
                <a:spcPct val="150000"/>
              </a:lnSpc>
              <a:buFont typeface="+mj-lt"/>
              <a:buAutoNum type="arabicParenR"/>
            </a:pPr>
            <a:endParaRPr lang="en-IN" sz="1600" dirty="0">
              <a:latin typeface="Times New Roman" panose="02020603050405020304" pitchFamily="18" charset="0"/>
              <a:cs typeface="Times New Roman" panose="02020603050405020304" pitchFamily="18" charset="0"/>
            </a:endParaRPr>
          </a:p>
          <a:p>
            <a:pPr fontAlgn="t"/>
            <a:r>
              <a:rPr lang="en-IN" sz="1600" dirty="0">
                <a:latin typeface="Times New Roman" panose="02020603050405020304" pitchFamily="18" charset="0"/>
                <a:cs typeface="Times New Roman" panose="02020603050405020304" pitchFamily="18" charset="0"/>
              </a:rPr>
              <a:t>[2] Rania H. </a:t>
            </a:r>
            <a:r>
              <a:rPr lang="en-IN" sz="1600" dirty="0" err="1">
                <a:latin typeface="Times New Roman" panose="02020603050405020304" pitchFamily="18" charset="0"/>
                <a:cs typeface="Times New Roman" panose="02020603050405020304" pitchFamily="18" charset="0"/>
              </a:rPr>
              <a:t>Elabd</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Maged</a:t>
            </a:r>
            <a:r>
              <a:rPr lang="en-IN" sz="1600" dirty="0">
                <a:latin typeface="Times New Roman" panose="02020603050405020304" pitchFamily="18" charset="0"/>
                <a:cs typeface="Times New Roman" panose="02020603050405020304" pitchFamily="18" charset="0"/>
              </a:rPr>
              <a:t> M. </a:t>
            </a:r>
            <a:r>
              <a:rPr lang="en-IN" sz="1600" dirty="0" err="1">
                <a:latin typeface="Times New Roman" panose="02020603050405020304" pitchFamily="18" charset="0"/>
                <a:cs typeface="Times New Roman" panose="02020603050405020304" pitchFamily="18" charset="0"/>
              </a:rPr>
              <a:t>Darwish</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Hazem</a:t>
            </a:r>
            <a:r>
              <a:rPr lang="en-IN" sz="1600" dirty="0">
                <a:latin typeface="Times New Roman" panose="02020603050405020304" pitchFamily="18" charset="0"/>
                <a:cs typeface="Times New Roman" panose="02020603050405020304" pitchFamily="18" charset="0"/>
              </a:rPr>
              <a:t> H. </a:t>
            </a:r>
            <a:r>
              <a:rPr lang="en-IN" sz="1600" dirty="0" err="1">
                <a:latin typeface="Times New Roman" panose="02020603050405020304" pitchFamily="18" charset="0"/>
                <a:cs typeface="Times New Roman" panose="02020603050405020304" pitchFamily="18" charset="0"/>
              </a:rPr>
              <a:t>Alshamekh</a:t>
            </a:r>
            <a:r>
              <a:rPr lang="en-IN" sz="1600" dirty="0">
                <a:latin typeface="Times New Roman" panose="02020603050405020304" pitchFamily="18" charset="0"/>
                <a:cs typeface="Times New Roman" panose="02020603050405020304" pitchFamily="18" charset="0"/>
              </a:rPr>
              <a:t>, Amr S. </a:t>
            </a:r>
            <a:r>
              <a:rPr lang="en-IN" sz="1600" dirty="0" err="1">
                <a:latin typeface="Times New Roman" panose="02020603050405020304" pitchFamily="18" charset="0"/>
                <a:cs typeface="Times New Roman" panose="02020603050405020304" pitchFamily="18" charset="0"/>
              </a:rPr>
              <a:t>Moawad’s</a:t>
            </a:r>
            <a:r>
              <a:rPr lang="en-IN" sz="1600" dirty="0">
                <a:latin typeface="Times New Roman" panose="02020603050405020304" pitchFamily="18" charset="0"/>
                <a:cs typeface="Times New Roman" panose="02020603050405020304" pitchFamily="18" charset="0"/>
              </a:rPr>
              <a:t> AI-Based Smart Helmet Detection System February 2024</a:t>
            </a:r>
          </a:p>
          <a:p>
            <a:pPr marL="342900" indent="-342900" fontAlgn="t">
              <a:buFont typeface="+mj-lt"/>
              <a:buAutoNum type="arabicParenR"/>
            </a:pPr>
            <a:endParaRPr lang="en-IN" sz="1600" dirty="0">
              <a:latin typeface="Times New Roman" panose="02020603050405020304" pitchFamily="18" charset="0"/>
              <a:cs typeface="Times New Roman" panose="02020603050405020304" pitchFamily="18" charset="0"/>
            </a:endParaRPr>
          </a:p>
          <a:p>
            <a:pPr fontAlgn="t"/>
            <a:r>
              <a:rPr lang="en-IN" sz="1600" dirty="0">
                <a:latin typeface="Times New Roman" panose="02020603050405020304" pitchFamily="18" charset="0"/>
                <a:cs typeface="Times New Roman" panose="02020603050405020304" pitchFamily="18" charset="0"/>
              </a:rPr>
              <a:t>[3] Talari Abhilash, Talluri Bhagya Sree, Terala Srikar Prasad’s Design and Development of a Smart Motorcycle and Bike Helmet for Enhanced Safety January 2026</a:t>
            </a:r>
          </a:p>
          <a:p>
            <a:pPr marL="342900" indent="-342900" fontAlgn="t">
              <a:buFont typeface="+mj-lt"/>
              <a:buAutoNum type="arabicParenR"/>
            </a:pPr>
            <a:endParaRPr lang="en-IN" sz="1600" dirty="0">
              <a:latin typeface="Times New Roman" panose="02020603050405020304" pitchFamily="18" charset="0"/>
              <a:cs typeface="Times New Roman" panose="02020603050405020304" pitchFamily="18" charset="0"/>
            </a:endParaRPr>
          </a:p>
          <a:p>
            <a:pPr fontAlgn="t"/>
            <a:r>
              <a:rPr lang="en-IN" sz="1600" dirty="0">
                <a:latin typeface="Times New Roman" panose="02020603050405020304" pitchFamily="18" charset="0"/>
                <a:cs typeface="Times New Roman" panose="02020603050405020304" pitchFamily="18" charset="0"/>
              </a:rPr>
              <a:t>[4] Circuitdigest.com microcontroller-projects smart-helmet-using-</a:t>
            </a:r>
            <a:r>
              <a:rPr lang="en-IN" sz="1600" dirty="0" err="1">
                <a:latin typeface="Times New Roman" panose="02020603050405020304" pitchFamily="18" charset="0"/>
                <a:cs typeface="Times New Roman" panose="02020603050405020304" pitchFamily="18" charset="0"/>
              </a:rPr>
              <a:t>arduino</a:t>
            </a:r>
            <a:endParaRPr lang="mr-IN" sz="1600" dirty="0">
              <a:latin typeface="Times New Roman" panose="02020603050405020304" pitchFamily="18" charset="0"/>
            </a:endParaRPr>
          </a:p>
          <a:p>
            <a:pPr marL="12700" marR="5080" indent="264160">
              <a:lnSpc>
                <a:spcPts val="1730"/>
              </a:lnSpc>
              <a:spcBef>
                <a:spcPts val="155"/>
              </a:spcBef>
              <a:buAutoNum type="arabicPlain"/>
              <a:tabLst>
                <a:tab pos="276860" algn="l"/>
              </a:tabLst>
            </a:pPr>
            <a:endParaRPr sz="1450" dirty="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65</TotalTime>
  <Words>1781</Words>
  <Application>Microsoft Office PowerPoint</Application>
  <PresentationFormat>Custom</PresentationFormat>
  <Paragraphs>168</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 MT</vt:lpstr>
      <vt:lpstr>Calibri</vt:lpstr>
      <vt:lpstr>Times New Roman</vt:lpstr>
      <vt:lpstr>Office Theme</vt:lpstr>
      <vt:lpstr>Pillai HOC College of Engineering &amp; Technology (Autonomous)</vt:lpstr>
      <vt:lpstr>Introduction</vt:lpstr>
      <vt:lpstr>Motivation</vt:lpstr>
      <vt:lpstr>LITERATURE SURVEY</vt:lpstr>
      <vt:lpstr>Limitations of existing work/Research Gap</vt:lpstr>
      <vt:lpstr>Problem Statement</vt:lpstr>
      <vt:lpstr>Scope</vt:lpstr>
      <vt:lpstr>Proposed architecture</vt:lpstr>
      <vt:lpstr>Methodology</vt:lpstr>
      <vt:lpstr>Complexity</vt:lpstr>
      <vt:lpstr>Expected Outcome</vt:lpstr>
      <vt:lpstr>Relevance to the environment</vt:lpstr>
      <vt:lpstr>Gantt Chart</vt:lpstr>
      <vt:lpstr>Sustainability</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HCL</dc:creator>
  <cp:lastModifiedBy>Vedant Patil</cp:lastModifiedBy>
  <cp:revision>7</cp:revision>
  <dcterms:created xsi:type="dcterms:W3CDTF">2026-09-09T16:13:00Z</dcterms:created>
  <dcterms:modified xsi:type="dcterms:W3CDTF">2026-09-10T05:47:57Z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2026-09-09T00:00:00Z</vt:filetime>
  </property>
  <property fmtid="{D5CDD505-2E9C-101B-9397-08002B2CF9AE}" pid="4" name="Creator">
    <vt:lpwstr>Microsoft® PowerPoint® 2021</vt:lpwstr>
  </property>
  <property fmtid="{D5CDD505-2E9C-101B-9397-08002B2CF9AE}" pid="5" name="LastSaved">
    <vt:filetime>2026-09-09T00:00:00Z</vt:filetime>
  </property>
  <property fmtid="{D5CDD505-2E9C-101B-9397-08002B2CF9AE}" pid="6" name="Producer">
    <vt:lpwstr>Microsoft® PowerPoint® 2021</vt:lpwstr>
  </property>
</Properties>
</file>